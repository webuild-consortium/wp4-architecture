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5"/>
    <p:sldMasterId id="2147483745" r:id="rId6"/>
  </p:sldMasterIdLst>
  <p:notesMasterIdLst>
    <p:notesMasterId r:id="rId18"/>
  </p:notesMasterIdLst>
  <p:sldIdLst>
    <p:sldId id="2147377354" r:id="rId7"/>
    <p:sldId id="2147377355" r:id="rId8"/>
    <p:sldId id="2147377356" r:id="rId9"/>
    <p:sldId id="2147377358" r:id="rId10"/>
    <p:sldId id="2147377357" r:id="rId11"/>
    <p:sldId id="2147377359" r:id="rId12"/>
    <p:sldId id="2147377360" r:id="rId13"/>
    <p:sldId id="2147377361" r:id="rId14"/>
    <p:sldId id="2147377363" r:id="rId15"/>
    <p:sldId id="2147377364" r:id="rId16"/>
    <p:sldId id="2147377362" r:id="rId17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511" userDrawn="1">
          <p15:clr>
            <a:srgbClr val="A4A3A4"/>
          </p15:clr>
        </p15:guide>
        <p15:guide id="3" orient="horz" pos="191" userDrawn="1">
          <p15:clr>
            <a:srgbClr val="A4A3A4"/>
          </p15:clr>
        </p15:guide>
        <p15:guide id="4" orient="horz" pos="2867" userDrawn="1">
          <p15:clr>
            <a:srgbClr val="A4A3A4"/>
          </p15:clr>
        </p15:guide>
        <p15:guide id="5" pos="2880" userDrawn="1">
          <p15:clr>
            <a:srgbClr val="A4A3A4"/>
          </p15:clr>
        </p15:guide>
        <p15:guide id="6" orient="horz" pos="180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5B970A-E5E1-2FB9-FC0D-1D9ED2F8CDD6}" name="Folkendt Werner (BCI/ENA)" initials="FW(" userId="S::fow2si@bosch.com::5469b780-1d15-4ea2-8ee1-5ddb28f3633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iada Sciarretta" initials="GS" lastIdx="1" clrIdx="0"/>
  <p:cmAuthor id="1" name="Giuseppe De Marco" initials="GDM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A5D8FF"/>
    <a:srgbClr val="92D050"/>
    <a:srgbClr val="FFC9C9"/>
    <a:srgbClr val="B0C9F8"/>
    <a:srgbClr val="2E3192"/>
    <a:srgbClr val="FEDD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5" autoAdjust="0"/>
    <p:restoredTop sz="84606" autoAdjust="0"/>
  </p:normalViewPr>
  <p:slideViewPr>
    <p:cSldViewPr snapToGrid="0">
      <p:cViewPr varScale="1">
        <p:scale>
          <a:sx n="95" d="100"/>
          <a:sy n="95" d="100"/>
        </p:scale>
        <p:origin x="130" y="62"/>
      </p:cViewPr>
      <p:guideLst>
        <p:guide orient="horz" pos="3072"/>
        <p:guide pos="5511"/>
        <p:guide orient="horz" pos="191"/>
        <p:guide orient="horz" pos="2867"/>
        <p:guide pos="2880"/>
        <p:guide orient="horz" pos="18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tags" Target="tags/tag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DE" sz="1400" b="0" strike="noStrike" spc="-1">
                <a:solidFill>
                  <a:srgbClr val="000000"/>
                </a:solidFill>
                <a:latin typeface="Arial"/>
              </a:rPr>
              <a:t>Folie mittels Klicken verschieben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de-DE" sz="2000" b="0" strike="noStrike" spc="-1">
                <a:solidFill>
                  <a:srgbClr val="000000"/>
                </a:solidFill>
                <a:latin typeface="Calibri"/>
              </a:rPr>
              <a:t>Format der Notizen mittels Klicken bearbeiten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Calibri"/>
              </a:rPr>
              <a:t>&lt;Kopfzeile&gt;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de-DE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Calibri"/>
              </a:rPr>
              <a:t>&lt;Datum/Uhrzeit&gt;</a:t>
            </a:r>
          </a:p>
        </p:txBody>
      </p:sp>
      <p:sp>
        <p:nvSpPr>
          <p:cNvPr id="51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de-DE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de-DE" sz="1400" b="0" strike="noStrike" spc="-1">
                <a:solidFill>
                  <a:srgbClr val="000000"/>
                </a:solidFill>
                <a:latin typeface="Calibri"/>
              </a:rPr>
              <a:t>&lt;Fußzeile&gt;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de-DE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buNone/>
            </a:pPr>
            <a:fld id="{96E51F71-4B75-4C7C-BA4C-311C56FD6708}" type="slidenum">
              <a:rPr lang="de-DE" sz="1400" b="0" strike="noStrike" spc="-1">
                <a:solidFill>
                  <a:srgbClr val="000000"/>
                </a:solidFill>
                <a:latin typeface="Calibri"/>
              </a:rPr>
              <a:t>‹#›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1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0661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2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7343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D2E82-F800-C568-866A-97AE852F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83F76-FE5B-DE1F-AA6D-ADBCFDE04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5E322-2D8E-7098-FFB5-73F3C7CB0A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444F2-8A9C-7859-B8C7-EB09DDF557BD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3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8830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2B27E-EE0D-2BBF-CF7D-C013D6FC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2580D8-CB54-AF71-2E28-52D7E7DD9B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7E17C-4A97-7B64-F4B9-ACF515C39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Lassen Sie uns ein konkretes Fallbeispiel betrachten: Die IBAN-Nachweis. 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Wir haben uns mit der Deutschen Bank und einem führenden qualifizierten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Vertrauensdiensteanbieter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(QTSP), zusammengesetzt. Wir haben gefragt, ob der QTSP im Auftrag der Bank eine IBAN als qualifizierte EAA ausstellen könnte. </a:t>
            </a: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Ergebnis dieser Konsultation war ein klares Nein.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genannte Grund ist, dass ein dritter Aussteller (QTSP) Zugriff auf IT-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Systemeder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Bank bräuchte und zudem die Haftung für die Richtigkeit der Kontonummer übernehmen müsste. Nötige Verträge, Kosten, Bankgeheimnis und IT-Sicherheitsgrenzen machen dieses Modell in der Praxis schwierig.</a:t>
            </a:r>
            <a:b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 gleiche gilt für die Ausstellung von Firmen-Nachweisen wie UBO, </a:t>
            </a:r>
            <a:r>
              <a:rPr lang="de-DE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Kontroll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und Eigentümer-Strukturen. Auch diese Daten sind hochvertraulich und werden nicht mit QTSPs geteilt!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Schlussfolgerung ist daher eindeutig: Wirtschaftsunternehmen und öffentliche Verwaltung muss in der Lage sein, selbst als Aussteller direkt aus ihren eigenen Wallets heraus Nachweise auszustellen.</a:t>
            </a: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98CB4-DD7C-52E9-E265-CB64159E0E34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4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079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EAAF1-02B4-F2AA-EADB-20C7D1AEB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8A92B-6D16-1A9C-6803-2664F3041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B25C7-E4E1-23E8-C433-73CD2916C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EB7D9-6A88-A9FF-8FF2-7258506DEA16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5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2348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3F2F-9046-9E1A-B963-A047540C9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DC1AD-52CF-3F8D-2C01-DD226721C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D15A5-2D24-75EF-B2F2-11749E6D5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58E41-5D1E-06A0-0688-6364836DFBBE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6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7071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3BB74-C414-0A5E-0CC3-F7A155A1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EACF9-0B15-AE63-6DC0-5F403CC5E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25CF73-3160-2DD1-345F-2D306BBE3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DA438-5E9F-B143-8CF3-B068EF764D8E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7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5920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E67DA-2ED5-0FD3-4283-D6858BF33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26B68-A839-B997-F7E0-EA082436F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43AF2-F75B-31C6-DFF8-74F5C5632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C173C-B1C7-8235-3810-D5A36D4057A1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8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4420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14C07-ABF3-7E12-44AC-93FB33E8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F6E68-8AA7-124E-4750-E8B54C84B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1C6F7-0367-3B7B-4ED3-7C4F8E0D6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A592C-38E3-B4C2-136A-5EA682DA25BF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9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90774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85D1-D898-9B66-907D-AE5641C52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D58CA2-C18B-0E24-6D52-5D70D9AFF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A0A00-CD46-36FF-38C6-A00E3261E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D0853-1247-B632-93D9-F05CE432D0A1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10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5051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2659C-B7A0-2545-119A-E59F6B312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B906B9-B251-5F1A-C529-F51DA027A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06D78A-138F-27ED-49F4-21675D5B72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7560F-1A00-BD37-F911-4107F5136FFA}"/>
              </a:ext>
            </a:extLst>
          </p:cNvPr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pPr indent="0" algn="r">
              <a:buNone/>
            </a:pPr>
            <a:fld id="{96E51F71-4B75-4C7C-BA4C-311C56FD6708}" type="slidenum">
              <a:rPr lang="de-DE" sz="1400" b="0" strike="noStrike" spc="-1" smtClean="0">
                <a:solidFill>
                  <a:srgbClr val="000000"/>
                </a:solidFill>
                <a:latin typeface="Calibri"/>
              </a:rPr>
              <a:t>11</a:t>
            </a:fld>
            <a:endParaRPr lang="de-DE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591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58DA5EC-ED2A-48EA-AD33-8BE2414258D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eldia_LOGOMARKXL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rije vorm: vorm 14"/>
          <p:cNvSpPr/>
          <p:nvPr/>
        </p:nvSpPr>
        <p:spPr>
          <a:xfrm>
            <a:off x="793800" y="0"/>
            <a:ext cx="8350020" cy="5143230"/>
          </a:xfrm>
          <a:custGeom>
            <a:avLst/>
            <a:gdLst>
              <a:gd name="textAreaLeft" fmla="*/ 0 w 11133360"/>
              <a:gd name="textAreaRight" fmla="*/ 11133720 w 11133360"/>
              <a:gd name="textAreaTop" fmla="*/ 0 h 6857640"/>
              <a:gd name="textAreaBottom" fmla="*/ 6858000 h 6857640"/>
              <a:gd name="GluePoint1X" fmla="*/ 9696303 w 11133638"/>
              <a:gd name="GluePoint1Y" fmla="*/ 0 h 6858000"/>
              <a:gd name="GluePoint2X" fmla="*/ 11133638 w 11133638"/>
              <a:gd name="GluePoint2Y" fmla="*/ 0 h 6858000"/>
              <a:gd name="GluePoint3X" fmla="*/ 11133638 w 11133638"/>
              <a:gd name="GluePoint3Y" fmla="*/ 6858000 h 6858000"/>
              <a:gd name="GluePoint4X" fmla="*/ 0 w 11133638"/>
              <a:gd name="GluePoint4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1133638" h="6858000">
                <a:moveTo>
                  <a:pt x="9696303" y="0"/>
                </a:moveTo>
                <a:lnTo>
                  <a:pt x="11133638" y="0"/>
                </a:lnTo>
                <a:lnTo>
                  <a:pt x="1113363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3" name="Vrije vorm: vorm 12"/>
          <p:cNvSpPr/>
          <p:nvPr/>
        </p:nvSpPr>
        <p:spPr>
          <a:xfrm>
            <a:off x="4672350" y="0"/>
            <a:ext cx="4471200" cy="3257010"/>
          </a:xfrm>
          <a:custGeom>
            <a:avLst/>
            <a:gdLst>
              <a:gd name="textAreaLeft" fmla="*/ 0 w 5961600"/>
              <a:gd name="textAreaRight" fmla="*/ 5961960 w 5961600"/>
              <a:gd name="textAreaTop" fmla="*/ 0 h 4342680"/>
              <a:gd name="textAreaBottom" fmla="*/ 4343040 h 4342680"/>
              <a:gd name="GluePoint1X" fmla="*/ 0 w 5962103"/>
              <a:gd name="GluePoint1Y" fmla="*/ 0 h 4342904"/>
              <a:gd name="GluePoint2X" fmla="*/ 5962103 w 5962103"/>
              <a:gd name="GluePoint2Y" fmla="*/ 0 h 4342904"/>
              <a:gd name="GluePoint3X" fmla="*/ 5962103 w 5962103"/>
              <a:gd name="GluePoint3Y" fmla="*/ 4342904 h 43429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962103" h="4342904">
                <a:moveTo>
                  <a:pt x="0" y="0"/>
                </a:moveTo>
                <a:lnTo>
                  <a:pt x="5962103" y="0"/>
                </a:lnTo>
                <a:lnTo>
                  <a:pt x="5962103" y="43429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4" name="Afbeelding 8" descr="Afbeelding met logo, Lettertype, schermopname, tekst&#10;&#10;Door AI gegenereerde inhoud is mogelijk onjuist."/>
          <p:cNvPicPr/>
          <p:nvPr/>
        </p:nvPicPr>
        <p:blipFill>
          <a:blip r:embed="rId2"/>
          <a:stretch/>
        </p:blipFill>
        <p:spPr>
          <a:xfrm>
            <a:off x="-1171800" y="-1773900"/>
            <a:ext cx="10865610" cy="839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Afbeelding 18" descr="Afbeelding met Lettertype, schermopname, tekst, symbool&#10;&#10;Door AI gegenereerde inhoud is mogelijk onjuist."/>
          <p:cNvPicPr/>
          <p:nvPr/>
        </p:nvPicPr>
        <p:blipFill>
          <a:blip r:embed="rId3"/>
          <a:stretch/>
        </p:blipFill>
        <p:spPr>
          <a:xfrm>
            <a:off x="7004070" y="4572180"/>
            <a:ext cx="2060370" cy="4584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36620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_3_Pres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628560" y="147393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311790" y="147393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3470310" y="147393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628560" y="3684150"/>
            <a:ext cx="22032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3470310" y="3684150"/>
            <a:ext cx="22032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1" name="PlaceHolder 6"/>
          <p:cNvSpPr>
            <a:spLocks noGrp="1"/>
          </p:cNvSpPr>
          <p:nvPr>
            <p:ph type="body"/>
          </p:nvPr>
        </p:nvSpPr>
        <p:spPr>
          <a:xfrm>
            <a:off x="6311790" y="3684150"/>
            <a:ext cx="22032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1485000" y="462780"/>
            <a:ext cx="7029990" cy="38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pic>
        <p:nvPicPr>
          <p:cNvPr id="13" name="Afbeelding 4"/>
          <p:cNvPicPr/>
          <p:nvPr/>
        </p:nvPicPr>
        <p:blipFill>
          <a:blip r:embed="rId2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Afbeelding 2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994007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_2_Present">
    <p:bg>
      <p:bgPr>
        <a:solidFill>
          <a:srgbClr val="0032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6311790" y="270972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55480" y="122229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502820" y="1932660"/>
            <a:ext cx="3324240" cy="26473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1502820" y="591300"/>
            <a:ext cx="651267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pic>
        <p:nvPicPr>
          <p:cNvPr id="19" name="Afbeelding 1"/>
          <p:cNvPicPr/>
          <p:nvPr/>
        </p:nvPicPr>
        <p:blipFill>
          <a:blip r:embed="rId2"/>
          <a:srcRect l="7247" r="7247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Afbeelding 6"/>
          <p:cNvPicPr/>
          <p:nvPr/>
        </p:nvPicPr>
        <p:blipFill>
          <a:blip r:embed="rId3"/>
          <a:stretch/>
        </p:blipFill>
        <p:spPr>
          <a:xfrm>
            <a:off x="1573560" y="4733370"/>
            <a:ext cx="1458540" cy="3245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66076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_2_Pres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6311790" y="270972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55480" y="122229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485000" y="1932660"/>
            <a:ext cx="3342060" cy="264735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1485000" y="463320"/>
            <a:ext cx="702999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pic>
        <p:nvPicPr>
          <p:cNvPr id="25" name="Afbeelding 6"/>
          <p:cNvPicPr/>
          <p:nvPr/>
        </p:nvPicPr>
        <p:blipFill>
          <a:blip r:embed="rId2"/>
          <a:stretch/>
        </p:blipFill>
        <p:spPr>
          <a:xfrm>
            <a:off x="1551690" y="4733370"/>
            <a:ext cx="1458540" cy="3245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Afbeelding 4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73257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_1_Medium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body"/>
          </p:nvPr>
        </p:nvSpPr>
        <p:spPr>
          <a:xfrm>
            <a:off x="5575230" y="0"/>
            <a:ext cx="3568320" cy="5143230"/>
          </a:xfrm>
          <a:prstGeom prst="rect">
            <a:avLst/>
          </a:prstGeom>
          <a:solidFill>
            <a:schemeClr val="accent3"/>
          </a:solidFill>
          <a:ln w="9360">
            <a:solidFill>
              <a:schemeClr val="dk1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7145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20574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28" name="Vrije vorm: vorm 17"/>
          <p:cNvSpPr/>
          <p:nvPr/>
        </p:nvSpPr>
        <p:spPr>
          <a:xfrm>
            <a:off x="0" y="0"/>
            <a:ext cx="7776000" cy="5143230"/>
          </a:xfrm>
          <a:custGeom>
            <a:avLst/>
            <a:gdLst>
              <a:gd name="textAreaLeft" fmla="*/ 0 w 10368000"/>
              <a:gd name="textAreaRight" fmla="*/ 10368360 w 10368000"/>
              <a:gd name="textAreaTop" fmla="*/ 0 h 6857640"/>
              <a:gd name="textAreaBottom" fmla="*/ 6858000 h 6857640"/>
              <a:gd name="GluePoint1X" fmla="*/ 0 w 10368503"/>
              <a:gd name="GluePoint1Y" fmla="*/ 0 h 6858000"/>
              <a:gd name="GluePoint2X" fmla="*/ 10368503 w 10368503"/>
              <a:gd name="GluePoint2Y" fmla="*/ 0 h 6858000"/>
              <a:gd name="GluePoint3X" fmla="*/ 7433730 w 10368503"/>
              <a:gd name="GluePoint3Y" fmla="*/ 2021747 h 6858000"/>
              <a:gd name="GluePoint4X" fmla="*/ 7433728 w 10368503"/>
              <a:gd name="GluePoint4Y" fmla="*/ 2021745 h 6858000"/>
              <a:gd name="GluePoint5X" fmla="*/ 7433728 w 10368503"/>
              <a:gd name="GluePoint5Y" fmla="*/ 4836256 h 6858000"/>
              <a:gd name="GluePoint6X" fmla="*/ 7433729 w 10368503"/>
              <a:gd name="GluePoint6Y" fmla="*/ 4836255 h 6858000"/>
              <a:gd name="GluePoint7X" fmla="*/ 10368502 w 10368503"/>
              <a:gd name="GluePoint7Y" fmla="*/ 6858000 h 6858000"/>
              <a:gd name="GluePoint8X" fmla="*/ 0 w 10368503"/>
              <a:gd name="GluePoint8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</a:cxnLst>
            <a:rect l="textAreaLeft" t="textAreaTop" r="textAreaRight" b="textAreaBottom"/>
            <a:pathLst>
              <a:path w="10368503" h="6858000">
                <a:moveTo>
                  <a:pt x="0" y="0"/>
                </a:moveTo>
                <a:lnTo>
                  <a:pt x="10368503" y="0"/>
                </a:lnTo>
                <a:lnTo>
                  <a:pt x="7433730" y="2021747"/>
                </a:lnTo>
                <a:lnTo>
                  <a:pt x="7433728" y="2021745"/>
                </a:lnTo>
                <a:lnTo>
                  <a:pt x="7433728" y="4836256"/>
                </a:lnTo>
                <a:lnTo>
                  <a:pt x="7433729" y="4836255"/>
                </a:lnTo>
                <a:lnTo>
                  <a:pt x="1036850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29" name="Afbeelding 6"/>
          <p:cNvPicPr/>
          <p:nvPr/>
        </p:nvPicPr>
        <p:blipFill>
          <a:blip r:embed="rId2"/>
          <a:srcRect l="7247" r="7247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88430" y="1465560"/>
            <a:ext cx="2197260" cy="31671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028860" y="1465560"/>
            <a:ext cx="2197260" cy="31671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1485000" y="584550"/>
            <a:ext cx="407214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0000" lnSpcReduction="19999"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pic>
        <p:nvPicPr>
          <p:cNvPr id="33" name="Afbeelding 8"/>
          <p:cNvPicPr/>
          <p:nvPr/>
        </p:nvPicPr>
        <p:blipFill>
          <a:blip r:embed="rId3"/>
          <a:stretch/>
        </p:blipFill>
        <p:spPr>
          <a:xfrm>
            <a:off x="1718550" y="4733370"/>
            <a:ext cx="1458540" cy="32454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643980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_2_Large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-5400" y="0"/>
            <a:ext cx="5442120" cy="514323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indent="-243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714500" lvl="5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2057400" lvl="6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4291380" y="1304370"/>
            <a:ext cx="408321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291380" y="2485890"/>
            <a:ext cx="422361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8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8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pic>
        <p:nvPicPr>
          <p:cNvPr id="37" name="Afbeelding 17"/>
          <p:cNvPicPr/>
          <p:nvPr/>
        </p:nvPicPr>
        <p:blipFill>
          <a:blip r:embed="rId2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Afbeelding 3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753830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Y_2_Large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body"/>
          </p:nvPr>
        </p:nvSpPr>
        <p:spPr>
          <a:xfrm>
            <a:off x="270" y="0"/>
            <a:ext cx="3568320" cy="5143230"/>
          </a:xfrm>
          <a:prstGeom prst="rect">
            <a:avLst/>
          </a:prstGeom>
          <a:solidFill>
            <a:schemeClr val="accent3"/>
          </a:solidFill>
          <a:ln w="936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7145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20574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24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4291380" y="1304370"/>
            <a:ext cx="408321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291380" y="2485890"/>
            <a:ext cx="422361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8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8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pic>
        <p:nvPicPr>
          <p:cNvPr id="42" name="Afbeelding 17"/>
          <p:cNvPicPr/>
          <p:nvPr/>
        </p:nvPicPr>
        <p:blipFill>
          <a:blip r:embed="rId2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Afbeelding 3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5998745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_3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85000" y="463320"/>
            <a:ext cx="669978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65010" y="2485890"/>
            <a:ext cx="211977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3505410" y="2485620"/>
            <a:ext cx="211977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945810" y="2485620"/>
            <a:ext cx="211977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48" name="Vrije vorm 8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49" name="Vrije vorm 9"/>
          <p:cNvSpPr/>
          <p:nvPr/>
        </p:nvSpPr>
        <p:spPr>
          <a:xfrm rot="10800000">
            <a:off x="8360550" y="-59778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rgbClr val="E9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50" name="Afbeelding 10"/>
          <p:cNvPicPr/>
          <p:nvPr/>
        </p:nvPicPr>
        <p:blipFill>
          <a:blip r:embed="rId2"/>
          <a:stretch/>
        </p:blipFill>
        <p:spPr>
          <a:xfrm>
            <a:off x="8332740" y="4193100"/>
            <a:ext cx="725490" cy="7659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Afbeelding 4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595015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Y_3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85000" y="463320"/>
            <a:ext cx="655128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53" name="Vrije vorm 8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54" name="Vrije vorm 9"/>
          <p:cNvSpPr/>
          <p:nvPr/>
        </p:nvSpPr>
        <p:spPr>
          <a:xfrm rot="10800000">
            <a:off x="8360550" y="-59778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rgbClr val="E9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485000" y="1473930"/>
            <a:ext cx="6521850" cy="324621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966730" y="2327400"/>
            <a:ext cx="4786560" cy="4496040"/>
          </a:xfrm>
          <a:prstGeom prst="rect">
            <a:avLst/>
          </a:prstGeom>
          <a:solidFill>
            <a:schemeClr val="accent4"/>
          </a:solidFill>
          <a:ln w="5724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pic>
        <p:nvPicPr>
          <p:cNvPr id="57" name="Afbeelding 6"/>
          <p:cNvPicPr/>
          <p:nvPr/>
        </p:nvPicPr>
        <p:blipFill>
          <a:blip r:embed="rId2"/>
          <a:stretch/>
        </p:blipFill>
        <p:spPr>
          <a:xfrm>
            <a:off x="1537650" y="4733370"/>
            <a:ext cx="1458540" cy="3245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Afbeelding 2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242982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Y_3_Content">
    <p:bg>
      <p:bgPr>
        <a:solidFill>
          <a:srgbClr val="0032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02820" y="590490"/>
            <a:ext cx="668196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65010" y="2485890"/>
            <a:ext cx="211977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3505410" y="2485620"/>
            <a:ext cx="211977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945810" y="2485620"/>
            <a:ext cx="2119770" cy="21465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  <a:def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5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514350" lvl="1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857250" lvl="2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20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200150" lvl="3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543050" lvl="4" indent="-171450" algn="l" defTabSz="685800">
              <a:lnSpc>
                <a:spcPct val="90000"/>
              </a:lnSpc>
              <a:spcBef>
                <a:spcPts val="374"/>
              </a:spcBef>
              <a:buClr>
                <a:srgbClr val="003299"/>
              </a:buClr>
              <a:buFont typeface="Arial"/>
              <a:buChar char="•"/>
            </a:pPr>
            <a:r>
              <a:rPr lang="nl-NL" sz="10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63" name="Vrije vorm 8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64" name="Vrije vorm 9"/>
          <p:cNvSpPr/>
          <p:nvPr/>
        </p:nvSpPr>
        <p:spPr>
          <a:xfrm rot="10800000">
            <a:off x="8360550" y="-59778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65" name="Afbeelding 3"/>
          <p:cNvPicPr/>
          <p:nvPr/>
        </p:nvPicPr>
        <p:blipFill>
          <a:blip r:embed="rId2"/>
          <a:srcRect l="7247" r="7247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Afbeelding 5"/>
          <p:cNvPicPr/>
          <p:nvPr/>
        </p:nvPicPr>
        <p:blipFill>
          <a:blip r:embed="rId3"/>
          <a:stretch/>
        </p:blipFill>
        <p:spPr>
          <a:xfrm>
            <a:off x="8332740" y="4193100"/>
            <a:ext cx="725490" cy="76599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43990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Y_3_Content">
    <p:bg>
      <p:bgPr>
        <a:solidFill>
          <a:srgbClr val="0032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Vrije vorm 8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68" name="Vrije vorm 9"/>
          <p:cNvSpPr/>
          <p:nvPr/>
        </p:nvSpPr>
        <p:spPr>
          <a:xfrm rot="10800000">
            <a:off x="8360550" y="-59778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69" name="Afbeelding 3"/>
          <p:cNvPicPr/>
          <p:nvPr/>
        </p:nvPicPr>
        <p:blipFill>
          <a:blip r:embed="rId2"/>
          <a:srcRect l="7247" r="7247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body"/>
          </p:nvPr>
        </p:nvSpPr>
        <p:spPr>
          <a:xfrm>
            <a:off x="5966730" y="2376270"/>
            <a:ext cx="4786560" cy="449604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1502820" y="1473930"/>
            <a:ext cx="6681960" cy="324621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5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pic>
        <p:nvPicPr>
          <p:cNvPr id="72" name="Afbeelding 7"/>
          <p:cNvPicPr/>
          <p:nvPr/>
        </p:nvPicPr>
        <p:blipFill>
          <a:blip r:embed="rId3"/>
          <a:stretch/>
        </p:blipFill>
        <p:spPr>
          <a:xfrm>
            <a:off x="1546560" y="4733370"/>
            <a:ext cx="1458540" cy="3245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3"/>
          <p:cNvSpPr>
            <a:spLocks noGrp="1"/>
          </p:cNvSpPr>
          <p:nvPr>
            <p:ph type="title"/>
          </p:nvPr>
        </p:nvSpPr>
        <p:spPr>
          <a:xfrm>
            <a:off x="1502820" y="590490"/>
            <a:ext cx="668196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657454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dia_LOGOMARKXL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rije vorm: vorm 14"/>
          <p:cNvSpPr/>
          <p:nvPr/>
        </p:nvSpPr>
        <p:spPr>
          <a:xfrm>
            <a:off x="793800" y="0"/>
            <a:ext cx="8350020" cy="5143230"/>
          </a:xfrm>
          <a:custGeom>
            <a:avLst/>
            <a:gdLst>
              <a:gd name="textAreaLeft" fmla="*/ 0 w 11133360"/>
              <a:gd name="textAreaRight" fmla="*/ 11133720 w 11133360"/>
              <a:gd name="textAreaTop" fmla="*/ 0 h 6857640"/>
              <a:gd name="textAreaBottom" fmla="*/ 6858000 h 6857640"/>
              <a:gd name="GluePoint1X" fmla="*/ 9696303 w 11133638"/>
              <a:gd name="GluePoint1Y" fmla="*/ 0 h 6858000"/>
              <a:gd name="GluePoint2X" fmla="*/ 11133638 w 11133638"/>
              <a:gd name="GluePoint2Y" fmla="*/ 0 h 6858000"/>
              <a:gd name="GluePoint3X" fmla="*/ 11133638 w 11133638"/>
              <a:gd name="GluePoint3Y" fmla="*/ 6858000 h 6858000"/>
              <a:gd name="GluePoint4X" fmla="*/ 0 w 11133638"/>
              <a:gd name="GluePoint4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1133638" h="6858000">
                <a:moveTo>
                  <a:pt x="9696303" y="0"/>
                </a:moveTo>
                <a:lnTo>
                  <a:pt x="11133638" y="0"/>
                </a:lnTo>
                <a:lnTo>
                  <a:pt x="1113363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75" name="Vrije vorm: vorm 7"/>
          <p:cNvSpPr/>
          <p:nvPr/>
        </p:nvSpPr>
        <p:spPr>
          <a:xfrm>
            <a:off x="0" y="0"/>
            <a:ext cx="6457590" cy="5143230"/>
          </a:xfrm>
          <a:custGeom>
            <a:avLst/>
            <a:gdLst>
              <a:gd name="textAreaLeft" fmla="*/ 0 w 8610120"/>
              <a:gd name="textAreaRight" fmla="*/ 8610480 w 8610120"/>
              <a:gd name="textAreaTop" fmla="*/ 0 h 6857640"/>
              <a:gd name="textAreaBottom" fmla="*/ 6858000 h 6857640"/>
              <a:gd name="GluePoint1X" fmla="*/ 0 w 8610598"/>
              <a:gd name="GluePoint1Y" fmla="*/ 0 h 6858000"/>
              <a:gd name="GluePoint2X" fmla="*/ 7479977 w 8610598"/>
              <a:gd name="GluePoint2Y" fmla="*/ 0 h 6858000"/>
              <a:gd name="GluePoint3X" fmla="*/ 8610598 w 8610598"/>
              <a:gd name="GluePoint3Y" fmla="*/ 1598548 h 6858000"/>
              <a:gd name="GluePoint4X" fmla="*/ 1174430 w 8610598"/>
              <a:gd name="GluePoint4Y" fmla="*/ 6858000 h 6858000"/>
              <a:gd name="GluePoint5X" fmla="*/ 0 w 8610598"/>
              <a:gd name="GluePoint5Y" fmla="*/ 685800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8610598" h="6858000">
                <a:moveTo>
                  <a:pt x="0" y="0"/>
                </a:moveTo>
                <a:lnTo>
                  <a:pt x="7479977" y="0"/>
                </a:lnTo>
                <a:lnTo>
                  <a:pt x="8610598" y="1598548"/>
                </a:lnTo>
                <a:lnTo>
                  <a:pt x="117443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76" name="Vrije vorm: vorm 12"/>
          <p:cNvSpPr/>
          <p:nvPr/>
        </p:nvSpPr>
        <p:spPr>
          <a:xfrm>
            <a:off x="4672350" y="0"/>
            <a:ext cx="4471200" cy="3257010"/>
          </a:xfrm>
          <a:custGeom>
            <a:avLst/>
            <a:gdLst>
              <a:gd name="textAreaLeft" fmla="*/ 0 w 5961600"/>
              <a:gd name="textAreaRight" fmla="*/ 5961960 w 5961600"/>
              <a:gd name="textAreaTop" fmla="*/ 0 h 4342680"/>
              <a:gd name="textAreaBottom" fmla="*/ 4343040 h 4342680"/>
              <a:gd name="GluePoint1X" fmla="*/ 0 w 5962103"/>
              <a:gd name="GluePoint1Y" fmla="*/ 0 h 4342904"/>
              <a:gd name="GluePoint2X" fmla="*/ 5962103 w 5962103"/>
              <a:gd name="GluePoint2Y" fmla="*/ 0 h 4342904"/>
              <a:gd name="GluePoint3X" fmla="*/ 5962103 w 5962103"/>
              <a:gd name="GluePoint3Y" fmla="*/ 4342904 h 4342904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5962103" h="4342904">
                <a:moveTo>
                  <a:pt x="0" y="0"/>
                </a:moveTo>
                <a:lnTo>
                  <a:pt x="5962103" y="0"/>
                </a:lnTo>
                <a:lnTo>
                  <a:pt x="5962103" y="43429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77" name="Afbeelding 8" descr="Afbeelding met logo, Lettertype, schermopname, tekst&#10;&#10;Door AI gegenereerde inhoud is mogelijk onjuist."/>
          <p:cNvPicPr/>
          <p:nvPr/>
        </p:nvPicPr>
        <p:blipFill>
          <a:blip r:embed="rId2"/>
          <a:stretch/>
        </p:blipFill>
        <p:spPr>
          <a:xfrm>
            <a:off x="-1171800" y="-1773900"/>
            <a:ext cx="10865610" cy="839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Afbeelding 18" descr="Afbeelding met Lettertype, schermopname, tekst, symbool&#10;&#10;Door AI gegenereerde inhoud is mogelijk onjuist."/>
          <p:cNvPicPr/>
          <p:nvPr/>
        </p:nvPicPr>
        <p:blipFill>
          <a:blip r:embed="rId3"/>
          <a:stretch/>
        </p:blipFill>
        <p:spPr>
          <a:xfrm>
            <a:off x="7004070" y="4572180"/>
            <a:ext cx="2060370" cy="4584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98363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485000" y="463320"/>
            <a:ext cx="675000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945270" y="1645920"/>
            <a:ext cx="7289730" cy="301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indent="-243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714500" lvl="5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2057400" lvl="6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81" name="Vrije vorm 7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82" name="Vrije vorm 9"/>
          <p:cNvSpPr/>
          <p:nvPr/>
        </p:nvSpPr>
        <p:spPr>
          <a:xfrm rot="10800000">
            <a:off x="8360550" y="-59778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rgbClr val="E9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83" name="Afbeelding 10"/>
          <p:cNvPicPr/>
          <p:nvPr/>
        </p:nvPicPr>
        <p:blipFill>
          <a:blip r:embed="rId2"/>
          <a:stretch/>
        </p:blipFill>
        <p:spPr>
          <a:xfrm>
            <a:off x="8332740" y="4193100"/>
            <a:ext cx="725490" cy="7659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Afbeelding 3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87368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Y_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485000" y="463320"/>
            <a:ext cx="675000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945270" y="1645920"/>
            <a:ext cx="7289730" cy="301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003299"/>
              </a:buClr>
              <a:buFont typeface="Arial"/>
              <a:buChar char="•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5pPr>
            <a:lvl6pPr lvl="5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6pPr>
            <a:lvl7pPr lvl="6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3299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indent="-243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714500" lvl="5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2057400" lvl="6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lt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pic>
        <p:nvPicPr>
          <p:cNvPr id="87" name="Afbeelding 10"/>
          <p:cNvPicPr/>
          <p:nvPr/>
        </p:nvPicPr>
        <p:blipFill>
          <a:blip r:embed="rId2"/>
          <a:stretch/>
        </p:blipFill>
        <p:spPr>
          <a:xfrm>
            <a:off x="8332740" y="4193100"/>
            <a:ext cx="725490" cy="7659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Afbeelding 3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Zeshoek 2"/>
          <p:cNvSpPr/>
          <p:nvPr/>
        </p:nvSpPr>
        <p:spPr>
          <a:xfrm rot="5400000">
            <a:off x="7380720" y="-2358450"/>
            <a:ext cx="3526740" cy="377163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727531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Y_TABLE">
    <p:bg>
      <p:bgPr>
        <a:solidFill>
          <a:srgbClr val="0032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02820" y="592920"/>
            <a:ext cx="6732180" cy="38313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945270" y="1645920"/>
            <a:ext cx="7289730" cy="301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indent="-24300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indent="-162000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714500" lvl="5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2057400" lvl="6" indent="-162000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92" name="Vrije vorm 7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93" name="Vrije vorm 9"/>
          <p:cNvSpPr/>
          <p:nvPr/>
        </p:nvSpPr>
        <p:spPr>
          <a:xfrm rot="10800000">
            <a:off x="8360550" y="-59778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94" name="Afbeelding 3"/>
          <p:cNvPicPr/>
          <p:nvPr/>
        </p:nvPicPr>
        <p:blipFill>
          <a:blip r:embed="rId2"/>
          <a:srcRect l="7247" r="7247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Afbeelding 4"/>
          <p:cNvPicPr/>
          <p:nvPr/>
        </p:nvPicPr>
        <p:blipFill>
          <a:blip r:embed="rId3"/>
          <a:stretch/>
        </p:blipFill>
        <p:spPr>
          <a:xfrm>
            <a:off x="8332740" y="4193100"/>
            <a:ext cx="725490" cy="76599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6402460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Titeldia_BlueBG"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Afbeelding 1"/>
          <p:cNvPicPr/>
          <p:nvPr/>
        </p:nvPicPr>
        <p:blipFill>
          <a:blip r:embed="rId2"/>
          <a:stretch/>
        </p:blipFill>
        <p:spPr>
          <a:xfrm>
            <a:off x="9335520" y="0"/>
            <a:ext cx="9260730" cy="6575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Zeshoek 6"/>
          <p:cNvSpPr/>
          <p:nvPr/>
        </p:nvSpPr>
        <p:spPr>
          <a:xfrm rot="5400000">
            <a:off x="-1889730" y="1129410"/>
            <a:ext cx="1218240" cy="130275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98" name="Zeshoek 9"/>
          <p:cNvSpPr/>
          <p:nvPr/>
        </p:nvSpPr>
        <p:spPr>
          <a:xfrm rot="5400000">
            <a:off x="5216400" y="-2358450"/>
            <a:ext cx="3526740" cy="377163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99" name="Afbeelding 15" descr="Afbeelding met tekst, Elektrisch blauw, Lettertype, schermopname&#10;&#10;Door AI gegenereerde inhoud is mogelijk onjuist."/>
          <p:cNvPicPr/>
          <p:nvPr/>
        </p:nvPicPr>
        <p:blipFill>
          <a:blip r:embed="rId3"/>
          <a:srcRect l="10756" t="18954" r="22351" b="17955"/>
          <a:stretch/>
        </p:blipFill>
        <p:spPr>
          <a:xfrm>
            <a:off x="178200" y="327780"/>
            <a:ext cx="3771630" cy="13810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Zeshoek 10"/>
          <p:cNvSpPr/>
          <p:nvPr/>
        </p:nvSpPr>
        <p:spPr>
          <a:xfrm rot="5400000">
            <a:off x="-1732320" y="4122090"/>
            <a:ext cx="3186270" cy="340767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01" name="Zeshoek 11"/>
          <p:cNvSpPr/>
          <p:nvPr/>
        </p:nvSpPr>
        <p:spPr>
          <a:xfrm rot="5400000">
            <a:off x="210330" y="2483730"/>
            <a:ext cx="2734830" cy="2924640"/>
          </a:xfrm>
          <a:prstGeom prst="hexagon">
            <a:avLst>
              <a:gd name="adj" fmla="val 38179"/>
              <a:gd name="vf" fmla="val 115470"/>
            </a:avLst>
          </a:prstGeom>
          <a:solidFill>
            <a:srgbClr val="2151E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 hasCustomPrompt="1"/>
          </p:nvPr>
        </p:nvSpPr>
        <p:spPr>
          <a:xfrm>
            <a:off x="1763100" y="2488050"/>
            <a:ext cx="5212620" cy="6226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6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6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PRESENTATIE TITEL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body" hasCustomPrompt="1"/>
          </p:nvPr>
        </p:nvSpPr>
        <p:spPr>
          <a:xfrm>
            <a:off x="1763370" y="2994570"/>
            <a:ext cx="5212350" cy="50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1800" b="1" u="none" strike="noStrike">
                <a:solidFill>
                  <a:schemeClr val="lt2">
                    <a:lumMod val="40000"/>
                    <a:lumOff val="60000"/>
                  </a:schemeClr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800" b="1" u="none" strike="noStrike">
                <a:solidFill>
                  <a:schemeClr val="lt2">
                    <a:lumMod val="40000"/>
                    <a:lumOff val="60000"/>
                  </a:schemeClr>
                </a:solidFill>
                <a:effectLst/>
                <a:uFillTx/>
                <a:latin typeface="Roboto"/>
              </a:rPr>
              <a:t>Presentatie subtitel</a:t>
            </a:r>
            <a:endParaRPr lang="nl-NL" sz="18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04" name="Rechthoek 20"/>
          <p:cNvSpPr/>
          <p:nvPr/>
        </p:nvSpPr>
        <p:spPr>
          <a:xfrm rot="18336600" flipH="1">
            <a:off x="1804140" y="2378700"/>
            <a:ext cx="72630" cy="69066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 hasCustomPrompt="1"/>
          </p:nvPr>
        </p:nvSpPr>
        <p:spPr>
          <a:xfrm>
            <a:off x="7211700" y="2994570"/>
            <a:ext cx="1653480" cy="2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ANNOTATIES</a:t>
            </a:r>
          </a:p>
        </p:txBody>
      </p:sp>
      <p:sp>
        <p:nvSpPr>
          <p:cNvPr id="106" name="PlaceHolder 4"/>
          <p:cNvSpPr>
            <a:spLocks noGrp="1"/>
          </p:cNvSpPr>
          <p:nvPr>
            <p:ph type="body" hasCustomPrompt="1"/>
          </p:nvPr>
        </p:nvSpPr>
        <p:spPr>
          <a:xfrm>
            <a:off x="7211700" y="3137400"/>
            <a:ext cx="1653480" cy="2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9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9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MEER ANNOTATIES</a:t>
            </a:r>
            <a:endParaRPr lang="nl-NL" sz="900" b="0" u="none" strike="noStrike">
              <a:solidFill>
                <a:schemeClr val="dk1"/>
              </a:solidFill>
              <a:effectLst/>
              <a:uFillTx/>
              <a:latin typeface="Roboto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 hasCustomPrompt="1"/>
          </p:nvPr>
        </p:nvSpPr>
        <p:spPr>
          <a:xfrm>
            <a:off x="7211700" y="3333690"/>
            <a:ext cx="1653480" cy="2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Datum</a:t>
            </a:r>
          </a:p>
        </p:txBody>
      </p:sp>
      <p:cxnSp>
        <p:nvCxnSpPr>
          <p:cNvPr id="108" name="Rechte verbindingslijn 33"/>
          <p:cNvCxnSpPr/>
          <p:nvPr/>
        </p:nvCxnSpPr>
        <p:spPr>
          <a:xfrm>
            <a:off x="7211430" y="3333420"/>
            <a:ext cx="1654020" cy="270"/>
          </a:xfrm>
          <a:prstGeom prst="straightConnector1">
            <a:avLst/>
          </a:prstGeom>
          <a:ln>
            <a:solidFill>
              <a:srgbClr val="FFFFFF"/>
            </a:solidFill>
          </a:ln>
        </p:spPr>
      </p:cxnSp>
      <p:pic>
        <p:nvPicPr>
          <p:cNvPr id="109" name="Afbeelding 34" descr="Afbeelding met Lettertype, schermopname, tekst, symbool&#10;&#10;Door AI gegenereerde inhoud is mogelijk onjuist."/>
          <p:cNvPicPr/>
          <p:nvPr/>
        </p:nvPicPr>
        <p:blipFill>
          <a:blip r:embed="rId4"/>
          <a:stretch/>
        </p:blipFill>
        <p:spPr>
          <a:xfrm>
            <a:off x="1841130" y="4572180"/>
            <a:ext cx="2060370" cy="45846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24439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Titeldia_WhiteBG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Afbeelding 15"/>
          <p:cNvPicPr/>
          <p:nvPr/>
        </p:nvPicPr>
        <p:blipFill>
          <a:blip r:embed="rId2"/>
          <a:srcRect t="2839" b="2839"/>
          <a:stretch/>
        </p:blipFill>
        <p:spPr>
          <a:xfrm>
            <a:off x="-425250" y="-29700"/>
            <a:ext cx="5646780" cy="2067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Afbeelding 1"/>
          <p:cNvPicPr/>
          <p:nvPr/>
        </p:nvPicPr>
        <p:blipFill>
          <a:blip r:embed="rId3"/>
          <a:stretch/>
        </p:blipFill>
        <p:spPr>
          <a:xfrm>
            <a:off x="9335520" y="0"/>
            <a:ext cx="9260730" cy="6575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Zeshoek 6"/>
          <p:cNvSpPr/>
          <p:nvPr/>
        </p:nvSpPr>
        <p:spPr>
          <a:xfrm rot="5400000">
            <a:off x="-1889730" y="1129410"/>
            <a:ext cx="1218240" cy="130275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13" name="Zeshoek 10"/>
          <p:cNvSpPr/>
          <p:nvPr/>
        </p:nvSpPr>
        <p:spPr>
          <a:xfrm rot="5400000">
            <a:off x="-1732320" y="4122090"/>
            <a:ext cx="3186270" cy="340767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14" name="Zeshoek 11"/>
          <p:cNvSpPr/>
          <p:nvPr/>
        </p:nvSpPr>
        <p:spPr>
          <a:xfrm rot="5400000">
            <a:off x="210330" y="2483730"/>
            <a:ext cx="2734830" cy="2924640"/>
          </a:xfrm>
          <a:prstGeom prst="hexagon">
            <a:avLst>
              <a:gd name="adj" fmla="val 38179"/>
              <a:gd name="vf" fmla="val 115470"/>
            </a:avLst>
          </a:prstGeom>
          <a:solidFill>
            <a:srgbClr val="E9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15" name="PlaceHolder 1"/>
          <p:cNvSpPr>
            <a:spLocks noGrp="1"/>
          </p:cNvSpPr>
          <p:nvPr>
            <p:ph type="title" hasCustomPrompt="1"/>
          </p:nvPr>
        </p:nvSpPr>
        <p:spPr>
          <a:xfrm>
            <a:off x="1763100" y="2488050"/>
            <a:ext cx="5212620" cy="6226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600" b="1" u="none" strike="noStrike">
                <a:solidFill>
                  <a:schemeClr val="lt2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600" b="1" u="none" strike="noStrike">
                <a:solidFill>
                  <a:schemeClr val="lt2"/>
                </a:solidFill>
                <a:effectLst/>
                <a:uFillTx/>
                <a:latin typeface="Roboto"/>
              </a:rPr>
              <a:t>PRESENTATIE TITEL</a:t>
            </a:r>
          </a:p>
        </p:txBody>
      </p:sp>
      <p:sp>
        <p:nvSpPr>
          <p:cNvPr id="116" name="PlaceHolder 2"/>
          <p:cNvSpPr>
            <a:spLocks noGrp="1"/>
          </p:cNvSpPr>
          <p:nvPr>
            <p:ph type="body" hasCustomPrompt="1"/>
          </p:nvPr>
        </p:nvSpPr>
        <p:spPr>
          <a:xfrm>
            <a:off x="1763370" y="2994570"/>
            <a:ext cx="5212350" cy="50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1800" b="1" u="none" strike="noStrike">
                <a:solidFill>
                  <a:schemeClr val="lt2">
                    <a:lumMod val="40000"/>
                    <a:lumOff val="60000"/>
                  </a:schemeClr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800" b="1" u="none" strike="noStrike">
                <a:solidFill>
                  <a:schemeClr val="lt2">
                    <a:lumMod val="40000"/>
                    <a:lumOff val="60000"/>
                  </a:schemeClr>
                </a:solidFill>
                <a:effectLst/>
                <a:uFillTx/>
                <a:latin typeface="Roboto"/>
              </a:rPr>
              <a:t>Presentatie subtitel</a:t>
            </a:r>
            <a:endParaRPr lang="nl-NL" sz="1800" b="0" u="none" strike="noStrike">
              <a:solidFill>
                <a:schemeClr val="lt2"/>
              </a:solidFill>
              <a:effectLst/>
              <a:uFillTx/>
              <a:latin typeface="Roboto"/>
            </a:endParaRPr>
          </a:p>
        </p:txBody>
      </p:sp>
      <p:sp>
        <p:nvSpPr>
          <p:cNvPr id="117" name="Rechthoek 20"/>
          <p:cNvSpPr/>
          <p:nvPr/>
        </p:nvSpPr>
        <p:spPr>
          <a:xfrm rot="18336600" flipH="1">
            <a:off x="1804140" y="2378700"/>
            <a:ext cx="72630" cy="690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 hasCustomPrompt="1"/>
          </p:nvPr>
        </p:nvSpPr>
        <p:spPr>
          <a:xfrm>
            <a:off x="7211700" y="2578770"/>
            <a:ext cx="1653480" cy="2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2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2"/>
                </a:solidFill>
                <a:effectLst/>
                <a:uFillTx/>
                <a:latin typeface="Roboto"/>
              </a:rPr>
              <a:t>ANNOTATIES</a:t>
            </a:r>
          </a:p>
        </p:txBody>
      </p:sp>
      <p:sp>
        <p:nvSpPr>
          <p:cNvPr id="119" name="PlaceHolder 4"/>
          <p:cNvSpPr>
            <a:spLocks noGrp="1"/>
          </p:cNvSpPr>
          <p:nvPr>
            <p:ph type="body" hasCustomPrompt="1"/>
          </p:nvPr>
        </p:nvSpPr>
        <p:spPr>
          <a:xfrm>
            <a:off x="7211700" y="2721330"/>
            <a:ext cx="1653480" cy="2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900" b="1" u="none" strike="noStrike">
                <a:solidFill>
                  <a:schemeClr val="lt2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900" b="1" u="none" strike="noStrike">
                <a:solidFill>
                  <a:schemeClr val="lt2"/>
                </a:solidFill>
                <a:effectLst/>
                <a:uFillTx/>
                <a:latin typeface="Roboto"/>
              </a:rPr>
              <a:t>MEER ANNOTATIES</a:t>
            </a:r>
            <a:endParaRPr lang="nl-NL" sz="900" b="0" u="none" strike="noStrike">
              <a:solidFill>
                <a:schemeClr val="lt2"/>
              </a:solidFill>
              <a:effectLst/>
              <a:uFillTx/>
              <a:latin typeface="Roboto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 hasCustomPrompt="1"/>
          </p:nvPr>
        </p:nvSpPr>
        <p:spPr>
          <a:xfrm>
            <a:off x="7211700" y="2917620"/>
            <a:ext cx="1653480" cy="222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10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lt2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lt2"/>
                </a:solidFill>
                <a:effectLst/>
                <a:uFillTx/>
                <a:latin typeface="Roboto"/>
              </a:rPr>
              <a:t>Datum</a:t>
            </a:r>
          </a:p>
        </p:txBody>
      </p:sp>
      <p:cxnSp>
        <p:nvCxnSpPr>
          <p:cNvPr id="121" name="Rechte verbindingslijn 33"/>
          <p:cNvCxnSpPr/>
          <p:nvPr/>
        </p:nvCxnSpPr>
        <p:spPr>
          <a:xfrm>
            <a:off x="7211430" y="2917620"/>
            <a:ext cx="1654020" cy="270"/>
          </a:xfrm>
          <a:prstGeom prst="straightConnector1">
            <a:avLst/>
          </a:prstGeom>
          <a:ln>
            <a:solidFill>
              <a:srgbClr val="003298"/>
            </a:solidFill>
          </a:ln>
        </p:spPr>
      </p:cxnSp>
      <p:pic>
        <p:nvPicPr>
          <p:cNvPr id="122" name="Afbeelding 3"/>
          <p:cNvPicPr/>
          <p:nvPr/>
        </p:nvPicPr>
        <p:blipFill>
          <a:blip r:embed="rId4"/>
          <a:stretch/>
        </p:blipFill>
        <p:spPr>
          <a:xfrm>
            <a:off x="1841130" y="4572180"/>
            <a:ext cx="2060370" cy="4584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Zeshoek 2"/>
          <p:cNvSpPr/>
          <p:nvPr/>
        </p:nvSpPr>
        <p:spPr>
          <a:xfrm rot="5400000">
            <a:off x="7342650" y="-2444040"/>
            <a:ext cx="3663090" cy="391743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638228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mpty_WhiteBG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Zeshoek 6"/>
          <p:cNvSpPr/>
          <p:nvPr/>
        </p:nvSpPr>
        <p:spPr>
          <a:xfrm rot="5400000">
            <a:off x="-1889730" y="1129410"/>
            <a:ext cx="1218240" cy="130275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25" name="Zeshoek 9"/>
          <p:cNvSpPr/>
          <p:nvPr/>
        </p:nvSpPr>
        <p:spPr>
          <a:xfrm rot="5400000">
            <a:off x="7380720" y="-2358450"/>
            <a:ext cx="3526740" cy="377163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26" name="Zeshoek 10"/>
          <p:cNvSpPr/>
          <p:nvPr/>
        </p:nvSpPr>
        <p:spPr>
          <a:xfrm rot="5400000">
            <a:off x="-1732320" y="4122090"/>
            <a:ext cx="3186270" cy="3407670"/>
          </a:xfrm>
          <a:prstGeom prst="hexagon">
            <a:avLst>
              <a:gd name="adj" fmla="val 38179"/>
              <a:gd name="vf" fmla="val 115470"/>
            </a:avLst>
          </a:prstGeom>
          <a:solidFill>
            <a:srgbClr val="E9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27" name="Rechthoek 20"/>
          <p:cNvSpPr/>
          <p:nvPr/>
        </p:nvSpPr>
        <p:spPr>
          <a:xfrm rot="18336600" flipH="1">
            <a:off x="1804140" y="2378700"/>
            <a:ext cx="72630" cy="690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128" name="Afbeelding 4"/>
          <p:cNvPicPr/>
          <p:nvPr/>
        </p:nvPicPr>
        <p:blipFill>
          <a:blip r:embed="rId2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Afbeelding 3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474296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mpty_WhiteBG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Zeshoek 6"/>
          <p:cNvSpPr/>
          <p:nvPr/>
        </p:nvSpPr>
        <p:spPr>
          <a:xfrm rot="5400000">
            <a:off x="-1889730" y="1129410"/>
            <a:ext cx="1218240" cy="130275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31" name="Zeshoek 9"/>
          <p:cNvSpPr/>
          <p:nvPr/>
        </p:nvSpPr>
        <p:spPr>
          <a:xfrm rot="5400000">
            <a:off x="7380720" y="-2358450"/>
            <a:ext cx="3526740" cy="377163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32" name="Rechthoek 20"/>
          <p:cNvSpPr/>
          <p:nvPr/>
        </p:nvSpPr>
        <p:spPr>
          <a:xfrm rot="18336600" flipH="1">
            <a:off x="1804140" y="2378700"/>
            <a:ext cx="72630" cy="6906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133" name="Afbeelding 4"/>
          <p:cNvPicPr/>
          <p:nvPr/>
        </p:nvPicPr>
        <p:blipFill>
          <a:blip r:embed="rId2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Vrije vorm 1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rgbClr val="E9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135" name="Afbeelding 2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34886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Header_WhiteBG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Zeshoek 9"/>
          <p:cNvSpPr/>
          <p:nvPr/>
        </p:nvSpPr>
        <p:spPr>
          <a:xfrm rot="5400000">
            <a:off x="7380720" y="-2358450"/>
            <a:ext cx="3526740" cy="377163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37" name="Vrije vorm 2"/>
          <p:cNvSpPr/>
          <p:nvPr/>
        </p:nvSpPr>
        <p:spPr>
          <a:xfrm>
            <a:off x="-784350" y="2349540"/>
            <a:ext cx="1575180" cy="3527010"/>
          </a:xfrm>
          <a:custGeom>
            <a:avLst/>
            <a:gdLst>
              <a:gd name="textAreaLeft" fmla="*/ 0 w 2100240"/>
              <a:gd name="textAreaRight" fmla="*/ 2100600 w 2100240"/>
              <a:gd name="textAreaTop" fmla="*/ 0 h 4702680"/>
              <a:gd name="textAreaBottom" fmla="*/ 4703040 h 4702680"/>
              <a:gd name="GluePoint1X" fmla="*/ 1261536 w 2523073"/>
              <a:gd name="GluePoint1Y" fmla="*/ 0 h 5648300"/>
              <a:gd name="GluePoint2X" fmla="*/ 2523072 w 2523073"/>
              <a:gd name="GluePoint2Y" fmla="*/ 900756 h 5648300"/>
              <a:gd name="GluePoint3X" fmla="*/ 2523072 w 2523073"/>
              <a:gd name="GluePoint3Y" fmla="*/ 1148325 h 5648300"/>
              <a:gd name="GluePoint4X" fmla="*/ 2523073 w 2523073"/>
              <a:gd name="GluePoint4Y" fmla="*/ 1148325 h 5648300"/>
              <a:gd name="GluePoint5X" fmla="*/ 2523073 w 2523073"/>
              <a:gd name="GluePoint5Y" fmla="*/ 5648300 h 5648300"/>
              <a:gd name="GluePoint6X" fmla="*/ 0 w 2523073"/>
              <a:gd name="GluePoint6Y" fmla="*/ 5648300 h 5648300"/>
              <a:gd name="GluePoint7X" fmla="*/ 0 w 2523073"/>
              <a:gd name="GluePoint7Y" fmla="*/ 1148325 h 5648300"/>
              <a:gd name="GluePoint8X" fmla="*/ 1 w 2523073"/>
              <a:gd name="GluePoint8Y" fmla="*/ 1148325 h 5648300"/>
              <a:gd name="GluePoint9X" fmla="*/ 1 w 2523073"/>
              <a:gd name="GluePoint9Y" fmla="*/ 900756 h 56483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</a:cxnLst>
            <a:rect l="textAreaLeft" t="textAreaTop" r="textAreaRight" b="textAreaBottom"/>
            <a:pathLst>
              <a:path w="2523073" h="5648300">
                <a:moveTo>
                  <a:pt x="1261536" y="0"/>
                </a:moveTo>
                <a:lnTo>
                  <a:pt x="2523072" y="900756"/>
                </a:lnTo>
                <a:lnTo>
                  <a:pt x="2523072" y="1148325"/>
                </a:lnTo>
                <a:lnTo>
                  <a:pt x="2523073" y="1148325"/>
                </a:lnTo>
                <a:lnTo>
                  <a:pt x="2523073" y="5648300"/>
                </a:lnTo>
                <a:lnTo>
                  <a:pt x="0" y="5648300"/>
                </a:lnTo>
                <a:lnTo>
                  <a:pt x="0" y="1148325"/>
                </a:lnTo>
                <a:lnTo>
                  <a:pt x="1" y="1148325"/>
                </a:lnTo>
                <a:lnTo>
                  <a:pt x="1" y="90075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23910" y="1418040"/>
            <a:ext cx="7291080" cy="384480"/>
          </a:xfrm>
          <a:prstGeom prst="rect">
            <a:avLst/>
          </a:prstGeom>
          <a:noFill/>
          <a:ln w="0">
            <a:noFill/>
          </a:ln>
        </p:spPr>
        <p:txBody>
          <a:bodyPr lIns="0" tIns="45720" rIns="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lt2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lt2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sp>
        <p:nvSpPr>
          <p:cNvPr id="139" name="PlaceHolder 2"/>
          <p:cNvSpPr>
            <a:spLocks noGrp="1"/>
          </p:cNvSpPr>
          <p:nvPr>
            <p:ph type="body" hasCustomPrompt="1"/>
          </p:nvPr>
        </p:nvSpPr>
        <p:spPr>
          <a:xfrm>
            <a:off x="1223910" y="2047140"/>
            <a:ext cx="2078190" cy="5141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180000" anchor="t">
            <a:sp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lt2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lt2"/>
                </a:solidFill>
                <a:effectLst/>
                <a:uFillTx/>
                <a:latin typeface="Roboto"/>
              </a:rPr>
              <a:t>SUBTITEL TEKST MAG HIER..</a:t>
            </a:r>
          </a:p>
        </p:txBody>
      </p:sp>
      <p:cxnSp>
        <p:nvCxnSpPr>
          <p:cNvPr id="140" name="Rechte verbindingslijn 12"/>
          <p:cNvCxnSpPr>
            <a:stCxn id="139" idx="1"/>
            <a:endCxn id="139" idx="3"/>
          </p:cNvCxnSpPr>
          <p:nvPr/>
        </p:nvCxnSpPr>
        <p:spPr>
          <a:xfrm>
            <a:off x="1223910" y="2304219"/>
            <a:ext cx="2078190" cy="0"/>
          </a:xfrm>
          <a:prstGeom prst="straightConnector1">
            <a:avLst/>
          </a:prstGeom>
          <a:ln>
            <a:solidFill>
              <a:srgbClr val="003299"/>
            </a:solidFill>
          </a:ln>
        </p:spPr>
      </p:cxnSp>
      <p:pic>
        <p:nvPicPr>
          <p:cNvPr id="141" name="Afbeelding 22"/>
          <p:cNvPicPr/>
          <p:nvPr/>
        </p:nvPicPr>
        <p:blipFill>
          <a:blip r:embed="rId2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Afbeelding 1"/>
          <p:cNvPicPr/>
          <p:nvPr/>
        </p:nvPicPr>
        <p:blipFill>
          <a:blip r:embed="rId3"/>
          <a:srcRect t="2839" r="61251" b="2839"/>
          <a:stretch/>
        </p:blipFill>
        <p:spPr>
          <a:xfrm>
            <a:off x="-122040" y="-34290"/>
            <a:ext cx="1458540" cy="137835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1714143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_Titeldia2">
    <p:bg>
      <p:bgPr>
        <a:solidFill>
          <a:srgbClr val="0032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Vrije vorm: vorm 16"/>
          <p:cNvSpPr/>
          <p:nvPr/>
        </p:nvSpPr>
        <p:spPr>
          <a:xfrm>
            <a:off x="0" y="4266810"/>
            <a:ext cx="1303290" cy="876420"/>
          </a:xfrm>
          <a:custGeom>
            <a:avLst/>
            <a:gdLst>
              <a:gd name="textAreaLeft" fmla="*/ 0 w 1737720"/>
              <a:gd name="textAreaRight" fmla="*/ 1738080 w 1737720"/>
              <a:gd name="textAreaTop" fmla="*/ 0 h 1168560"/>
              <a:gd name="textAreaBottom" fmla="*/ 1168920 h 1168560"/>
              <a:gd name="GluePoint1X" fmla="*/ 0 w 1738002"/>
              <a:gd name="GluePoint1Y" fmla="*/ 0 h 1169069"/>
              <a:gd name="GluePoint2X" fmla="*/ 1738002 w 1738002"/>
              <a:gd name="GluePoint2Y" fmla="*/ 1169069 h 1169069"/>
              <a:gd name="GluePoint3X" fmla="*/ 0 w 1738002"/>
              <a:gd name="GluePoint3Y" fmla="*/ 1169069 h 116906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1738002" h="1169069">
                <a:moveTo>
                  <a:pt x="0" y="0"/>
                </a:moveTo>
                <a:lnTo>
                  <a:pt x="1738002" y="1169069"/>
                </a:lnTo>
                <a:lnTo>
                  <a:pt x="0" y="116906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sp>
        <p:nvSpPr>
          <p:cNvPr id="144" name="Zeshoek 1"/>
          <p:cNvSpPr/>
          <p:nvPr/>
        </p:nvSpPr>
        <p:spPr>
          <a:xfrm rot="5400000">
            <a:off x="4426920" y="-2282040"/>
            <a:ext cx="3454110" cy="3693870"/>
          </a:xfrm>
          <a:prstGeom prst="hexagon">
            <a:avLst>
              <a:gd name="adj" fmla="val 38179"/>
              <a:gd name="vf" fmla="val 11547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 defTabSz="685800">
              <a:lnSpc>
                <a:spcPct val="100000"/>
              </a:lnSpc>
            </a:pPr>
            <a:endParaRPr lang="nl-NL" sz="1350" b="0" u="none" strike="noStrike">
              <a:solidFill>
                <a:schemeClr val="lt1"/>
              </a:solidFill>
              <a:effectLst/>
              <a:uFillTx/>
              <a:latin typeface="Roboto"/>
            </a:endParaRPr>
          </a:p>
        </p:txBody>
      </p:sp>
      <p:pic>
        <p:nvPicPr>
          <p:cNvPr id="145" name="Afbeelding 6"/>
          <p:cNvPicPr/>
          <p:nvPr/>
        </p:nvPicPr>
        <p:blipFill>
          <a:blip r:embed="rId2"/>
          <a:srcRect l="7247" r="7247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142910" y="1296810"/>
            <a:ext cx="6857730" cy="82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pic>
        <p:nvPicPr>
          <p:cNvPr id="147" name="Afbeelding 9"/>
          <p:cNvPicPr/>
          <p:nvPr/>
        </p:nvPicPr>
        <p:blipFill>
          <a:blip r:embed="rId3"/>
          <a:stretch/>
        </p:blipFill>
        <p:spPr>
          <a:xfrm>
            <a:off x="8229600" y="4193100"/>
            <a:ext cx="725490" cy="76599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264609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_3_Present">
    <p:bg>
      <p:bgPr>
        <a:solidFill>
          <a:srgbClr val="0032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628560" y="146556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311790" y="146556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3470310" y="1465560"/>
            <a:ext cx="2203200" cy="2069550"/>
          </a:xfrm>
          <a:prstGeom prst="rect">
            <a:avLst/>
          </a:prstGeom>
          <a:solidFill>
            <a:schemeClr val="accent4"/>
          </a:solidFill>
          <a:ln w="57240">
            <a:solidFill>
              <a:schemeClr val="accent3"/>
            </a:solidFill>
            <a:round/>
          </a:ln>
        </p:spPr>
        <p:txBody>
          <a:bodyPr lIns="90000" tIns="45000" rIns="90000" bIns="45000" anchor="t">
            <a:noAutofit/>
          </a:bodyPr>
          <a:lstStyle>
            <a:lvl1pPr indent="-171450" algn="l" defTabSz="685800">
              <a:lnSpc>
                <a:spcPct val="90000"/>
              </a:lnSpc>
              <a:spcBef>
                <a:spcPts val="75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  <a:lvl6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6pPr>
            <a:lvl7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7pPr>
          </a:lstStyle>
          <a:p>
            <a:pPr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Click to edit the outline text format</a:t>
            </a:r>
          </a:p>
          <a:p>
            <a:pPr marL="342900" lvl="1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Second Outline Level</a:t>
            </a:r>
          </a:p>
          <a:p>
            <a:pPr marL="685800" lvl="2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Third Outline Level</a:t>
            </a:r>
          </a:p>
          <a:p>
            <a:pPr marL="1028700" lvl="3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Fourth Outline Level</a:t>
            </a:r>
          </a:p>
          <a:p>
            <a:pPr marL="1371600" lvl="4" algn="l" defTabSz="685800">
              <a:lnSpc>
                <a:spcPct val="90000"/>
              </a:lnSpc>
              <a:spcBef>
                <a:spcPts val="374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Fifth Outline Level</a:t>
            </a:r>
          </a:p>
          <a:p>
            <a:pPr marL="1371600" lvl="5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Sixth Outline Level</a:t>
            </a:r>
          </a:p>
          <a:p>
            <a:pPr marL="1371600" lvl="6" algn="l" defTabSz="685800">
              <a:lnSpc>
                <a:spcPct val="90000"/>
              </a:lnSpc>
              <a:spcBef>
                <a:spcPts val="212"/>
              </a:spcBef>
              <a:buClr>
                <a:srgbClr val="FFFFFF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Seventh Outline Level</a:t>
            </a: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28560" y="3675780"/>
            <a:ext cx="22032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3470310" y="3675780"/>
            <a:ext cx="22032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6311790" y="3675780"/>
            <a:ext cx="2203200" cy="64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  <a:lvl2pPr marL="3429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2pPr>
            <a:lvl3pPr marL="6858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3pPr>
            <a:lvl4pPr marL="10287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4pPr>
            <a:lvl5pPr marL="1371600" indent="0" algn="l" defTabSz="685800">
              <a:lnSpc>
                <a:spcPct val="90000"/>
              </a:lnSpc>
              <a:spcBef>
                <a:spcPts val="374"/>
              </a:spcBef>
              <a:buNone/>
              <a:tabLst>
                <a:tab pos="0" algn="l"/>
              </a:tabLst>
              <a:def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5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nl-NL" sz="13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Klikken om de tekststijl van het model te bewerken</a:t>
            </a:r>
          </a:p>
          <a:p>
            <a:pPr marL="4572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2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Tweede niveau</a:t>
            </a:r>
          </a:p>
          <a:p>
            <a:pPr marL="9144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105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Derde niveau</a:t>
            </a:r>
          </a:p>
          <a:p>
            <a:pPr marL="13716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Vierde niveau</a:t>
            </a:r>
          </a:p>
          <a:p>
            <a:pPr marL="1828800" indent="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nl-NL" sz="900" b="0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Vijfde niveau</a:t>
            </a:r>
          </a:p>
        </p:txBody>
      </p:sp>
      <p:sp>
        <p:nvSpPr>
          <p:cNvPr id="154" name="PlaceHolder 7"/>
          <p:cNvSpPr>
            <a:spLocks noGrp="1"/>
          </p:cNvSpPr>
          <p:nvPr>
            <p:ph type="title"/>
          </p:nvPr>
        </p:nvSpPr>
        <p:spPr>
          <a:xfrm>
            <a:off x="1485000" y="592380"/>
            <a:ext cx="7012170" cy="38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nl-NL" sz="3300" b="1" u="none" strike="noStrike">
                <a:solidFill>
                  <a:schemeClr val="dk1"/>
                </a:solidFill>
                <a:effectLst/>
                <a:uFillTx/>
                <a:latin typeface="Roboto"/>
              </a:rPr>
              <a:t>Klik om stijl te bewerken</a:t>
            </a:r>
          </a:p>
        </p:txBody>
      </p:sp>
      <p:pic>
        <p:nvPicPr>
          <p:cNvPr id="155" name="Afbeelding 6"/>
          <p:cNvPicPr/>
          <p:nvPr/>
        </p:nvPicPr>
        <p:blipFill>
          <a:blip r:embed="rId2"/>
          <a:srcRect l="7200" r="7200"/>
          <a:stretch/>
        </p:blipFill>
        <p:spPr>
          <a:xfrm>
            <a:off x="44280" y="86940"/>
            <a:ext cx="1458540" cy="137835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Afbeelding 10"/>
          <p:cNvPicPr/>
          <p:nvPr/>
        </p:nvPicPr>
        <p:blipFill>
          <a:blip r:embed="rId3"/>
          <a:stretch/>
        </p:blipFill>
        <p:spPr>
          <a:xfrm>
            <a:off x="7258140" y="4652640"/>
            <a:ext cx="1821150" cy="405270"/>
          </a:xfrm>
          <a:prstGeom prst="rect">
            <a:avLst/>
          </a:prstGeom>
          <a:noFill/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42746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4.xml"/><Relationship Id="rId21" Type="http://schemas.openxmlformats.org/officeDocument/2006/relationships/slideLayout" Target="../slideLayouts/slideLayout22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C78E30B-4BAC-9337-D66D-9E7F36F47F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758535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78E30B-4BAC-9337-D66D-9E7F36F47F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vert="horz" tIns="91440" bIns="91440" anchor="b">
            <a:normAutofit fontScale="98341"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de-DE" sz="12000" b="0" strike="noStrike" spc="-1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lang="de-DE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5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Format des Gliederungstextes durch Klicken bearbeiten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Zweite Gliederungsebene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Dritte Gliederungsebene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Vierte Gliederungsebene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Fünfte Gliederungsebene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Sechste Gliederungsebene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Siebte Gliederungsebene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CC7A82-ED2D-4595-A468-4D58FDBF7194}" type="slidenum">
              <a:rPr lang="en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de-DE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006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  <p:sldLayoutId id="2147483764" r:id="rId19"/>
    <p:sldLayoutId id="2147483765" r:id="rId20"/>
    <p:sldLayoutId id="2147483766" r:id="rId21"/>
    <p:sldLayoutId id="2147483767" r:id="rId2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93394-5B9B-1C91-4D54-1247FB62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feld 2">
            <a:extLst>
              <a:ext uri="{FF2B5EF4-FFF2-40B4-BE49-F238E27FC236}">
                <a16:creationId xmlns:a16="http://schemas.microsoft.com/office/drawing/2014/main" id="{864DF8F4-E9E5-0F3E-2389-616A8085A9A4}"/>
              </a:ext>
            </a:extLst>
          </p:cNvPr>
          <p:cNvSpPr/>
          <p:nvPr/>
        </p:nvSpPr>
        <p:spPr>
          <a:xfrm>
            <a:off x="719015" y="1275480"/>
            <a:ext cx="8225882" cy="6529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67500" tIns="33750" rIns="67500" bIns="33750" anchor="t">
            <a:spAutoFit/>
          </a:bodyPr>
          <a:lstStyle/>
          <a:p>
            <a:pPr defTabSz="685800">
              <a:buClr>
                <a:srgbClr val="003299"/>
              </a:buClr>
            </a:pPr>
            <a:endParaRPr lang="en-US" sz="1400" dirty="0"/>
          </a:p>
          <a:p>
            <a:pPr marL="671513" lvl="1" indent="-214313" defTabSz="685800">
              <a:buClr>
                <a:srgbClr val="003299"/>
              </a:buClr>
              <a:buFont typeface="Arial" panose="020B0604020202020204" pitchFamily="34" charset="0"/>
              <a:buChar char="•"/>
            </a:pPr>
            <a:endParaRPr lang="en-US" sz="1050" dirty="0">
              <a:solidFill>
                <a:srgbClr val="003299"/>
              </a:solidFill>
              <a:latin typeface="Roboto"/>
            </a:endParaRPr>
          </a:p>
          <a:p>
            <a:pPr defTabSz="685800"/>
            <a:endParaRPr lang="en-US" sz="135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1C65B8-D6F7-6729-C75C-E59894DBDAF8}"/>
              </a:ext>
            </a:extLst>
          </p:cNvPr>
          <p:cNvSpPr txBox="1"/>
          <p:nvPr/>
        </p:nvSpPr>
        <p:spPr>
          <a:xfrm>
            <a:off x="749808" y="875423"/>
            <a:ext cx="8108053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dirty="0">
                <a:solidFill>
                  <a:srgbClr val="212121"/>
                </a:solidFill>
                <a:latin typeface="Arial"/>
              </a:rPr>
              <a:t>Securing the Business Value
of the European Business Wallet (EBW)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5FCBF-621F-D43F-CF74-8804558BCBA0}"/>
              </a:ext>
            </a:extLst>
          </p:cNvPr>
          <p:cNvSpPr txBox="1"/>
          <p:nvPr/>
        </p:nvSpPr>
        <p:spPr>
          <a:xfrm>
            <a:off x="737245" y="2110330"/>
            <a:ext cx="877824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0097A7"/>
                </a:solidFill>
                <a:latin typeface="Arial"/>
              </a:rPr>
              <a:t>Restoring Critical Capabilities &amp; Enabling Scalable Trust</a:t>
            </a:r>
          </a:p>
        </p:txBody>
      </p:sp>
      <p:sp>
        <p:nvSpPr>
          <p:cNvPr id="9" name="Rounded Rectangle 6">
            <a:extLst>
              <a:ext uri="{FF2B5EF4-FFF2-40B4-BE49-F238E27FC236}">
                <a16:creationId xmlns:a16="http://schemas.microsoft.com/office/drawing/2014/main" id="{F0BD037B-D4D1-52F9-573D-06069319C413}"/>
              </a:ext>
            </a:extLst>
          </p:cNvPr>
          <p:cNvSpPr/>
          <p:nvPr/>
        </p:nvSpPr>
        <p:spPr>
          <a:xfrm>
            <a:off x="749808" y="2735679"/>
            <a:ext cx="6995160" cy="1417320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DEAA8-BAC6-68D0-91A6-1C8DE3F1D319}"/>
              </a:ext>
            </a:extLst>
          </p:cNvPr>
          <p:cNvSpPr txBox="1"/>
          <p:nvPr/>
        </p:nvSpPr>
        <p:spPr>
          <a:xfrm>
            <a:off x="914400" y="2863695"/>
            <a:ext cx="6720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rial"/>
              </a:rPr>
              <a:t>Objective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FBB4AD-49CC-3DCE-1EBE-3099BCA81C3B}"/>
              </a:ext>
            </a:extLst>
          </p:cNvPr>
          <p:cNvSpPr txBox="1"/>
          <p:nvPr/>
        </p:nvSpPr>
        <p:spPr>
          <a:xfrm>
            <a:off x="914400" y="3256886"/>
            <a:ext cx="6702552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595959"/>
                </a:solidFill>
                <a:latin typeface="Arial"/>
              </a:rPr>
              <a:t>Align Member State positions on targeted trilogue changes so </a:t>
            </a:r>
            <a:r>
              <a:rPr lang="de-DE" sz="1500" b="0" dirty="0" err="1">
                <a:solidFill>
                  <a:srgbClr val="595959"/>
                </a:solidFill>
                <a:latin typeface="Arial"/>
              </a:rPr>
              <a:t>that</a:t>
            </a:r>
            <a:r>
              <a:rPr lang="de-DE" sz="1500" b="0" dirty="0">
                <a:solidFill>
                  <a:srgbClr val="595959"/>
                </a:solidFill>
                <a:latin typeface="Arial"/>
              </a:rPr>
              <a:t> </a:t>
            </a:r>
            <a:r>
              <a:rPr sz="1500" b="0" dirty="0">
                <a:solidFill>
                  <a:srgbClr val="595959"/>
                </a:solidFill>
                <a:latin typeface="Arial"/>
              </a:rPr>
              <a:t>the EBW remains secure, practical and economically viable for European B2B use cases.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91EC9-DA45-48C4-19C2-F11ADD25FB55}"/>
              </a:ext>
            </a:extLst>
          </p:cNvPr>
          <p:cNvSpPr txBox="1"/>
          <p:nvPr/>
        </p:nvSpPr>
        <p:spPr>
          <a:xfrm>
            <a:off x="777240" y="4473039"/>
            <a:ext cx="65836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"We Build" Member State Advisory Group
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September</a:t>
            </a:r>
            <a:r>
              <a:rPr sz="1300" b="0" dirty="0">
                <a:solidFill>
                  <a:srgbClr val="595959"/>
                </a:solidFill>
                <a:latin typeface="Arial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09656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F300-22E1-ADE2-847E-F48CF3BF4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Strategic Alignment: Security vs. Usability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8210EC-6B48-3EE6-E3A2-6007AA68BF85}"/>
              </a:ext>
            </a:extLst>
          </p:cNvPr>
          <p:cNvGrpSpPr/>
          <p:nvPr/>
        </p:nvGrpSpPr>
        <p:grpSpPr>
          <a:xfrm>
            <a:off x="193685" y="1203960"/>
            <a:ext cx="8523595" cy="3293639"/>
            <a:chOff x="610751" y="1417320"/>
            <a:chExt cx="10736953" cy="4938186"/>
          </a:xfrm>
        </p:grpSpPr>
        <p:sp>
          <p:nvSpPr>
            <p:cNvPr id="5" name="Rounded Rectangle 7">
              <a:extLst>
                <a:ext uri="{FF2B5EF4-FFF2-40B4-BE49-F238E27FC236}">
                  <a16:creationId xmlns:a16="http://schemas.microsoft.com/office/drawing/2014/main" id="{ACB06035-FBF9-047E-A094-7F4B79FC475E}"/>
                </a:ext>
              </a:extLst>
            </p:cNvPr>
            <p:cNvSpPr/>
            <p:nvPr/>
          </p:nvSpPr>
          <p:spPr>
            <a:xfrm>
              <a:off x="731520" y="1417320"/>
              <a:ext cx="3337560" cy="4389120"/>
            </a:xfrm>
            <a:prstGeom prst="roundRect">
              <a:avLst/>
            </a:prstGeom>
            <a:solidFill>
              <a:srgbClr val="FFF6E9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94F15A-418F-E8B1-2D5E-29E459A4EC93}"/>
                </a:ext>
              </a:extLst>
            </p:cNvPr>
            <p:cNvSpPr txBox="1"/>
            <p:nvPr/>
          </p:nvSpPr>
          <p:spPr>
            <a:xfrm>
              <a:off x="896112" y="1545336"/>
              <a:ext cx="3063240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>
                  <a:solidFill>
                    <a:srgbClr val="212121"/>
                  </a:solidFill>
                  <a:latin typeface="Arial"/>
                </a:rPr>
                <a:t>THE PROBLEM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AE54EF-2A5A-FE1B-2559-206000D73365}"/>
                </a:ext>
              </a:extLst>
            </p:cNvPr>
            <p:cNvSpPr txBox="1"/>
            <p:nvPr/>
          </p:nvSpPr>
          <p:spPr>
            <a:xfrm>
              <a:off x="896113" y="1938527"/>
              <a:ext cx="3044953" cy="387620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50" b="0" dirty="0">
                  <a:solidFill>
                    <a:srgbClr val="595959"/>
                  </a:solidFill>
                  <a:latin typeface="Arial"/>
                </a:rPr>
                <a:t>Independent issuing capabilities and a scalable trust model are constrained, blocking important B2B flows.</a:t>
              </a:r>
              <a:endParaRPr lang="de-DE" sz="1350" b="0" dirty="0">
                <a:solidFill>
                  <a:srgbClr val="595959"/>
                </a:solidFill>
                <a:latin typeface="Arial"/>
              </a:endParaRPr>
            </a:p>
            <a:p>
              <a:pPr algn="l"/>
              <a:endParaRPr lang="de-DE" sz="1350" dirty="0">
                <a:solidFill>
                  <a:srgbClr val="595959"/>
                </a:solidFill>
                <a:latin typeface="Arial"/>
              </a:endParaRPr>
            </a:p>
            <a:p>
              <a:pPr algn="ctr"/>
              <a:endParaRPr lang="de-DE" sz="1350" b="0" dirty="0">
                <a:solidFill>
                  <a:srgbClr val="595959"/>
                </a:solidFill>
                <a:latin typeface="Arial"/>
              </a:endParaRPr>
            </a:p>
            <a:p>
              <a:pPr algn="ctr"/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EBW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may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become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en-US" sz="1350" b="0" dirty="0">
                  <a:solidFill>
                    <a:srgbClr val="595959"/>
                  </a:solidFill>
                  <a:latin typeface="Arial"/>
                </a:rPr>
                <a:t>a compliance burden rather than an economic catalyst.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without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changes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in the EBW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regulation</a:t>
              </a:r>
              <a:endParaRPr lang="de-DE" sz="1350" b="0" dirty="0">
                <a:solidFill>
                  <a:srgbClr val="595959"/>
                </a:solidFill>
                <a:latin typeface="Arial"/>
              </a:endParaRPr>
            </a:p>
          </p:txBody>
        </p:sp>
        <p:sp>
          <p:nvSpPr>
            <p:cNvPr id="13" name="Rounded Rectangle 11">
              <a:extLst>
                <a:ext uri="{FF2B5EF4-FFF2-40B4-BE49-F238E27FC236}">
                  <a16:creationId xmlns:a16="http://schemas.microsoft.com/office/drawing/2014/main" id="{1C0A0B10-1C92-FCBB-CED9-B383134833D0}"/>
                </a:ext>
              </a:extLst>
            </p:cNvPr>
            <p:cNvSpPr/>
            <p:nvPr/>
          </p:nvSpPr>
          <p:spPr>
            <a:xfrm>
              <a:off x="4370832" y="1417320"/>
              <a:ext cx="3337560" cy="4389120"/>
            </a:xfrm>
            <a:prstGeom prst="roundRect">
              <a:avLst/>
            </a:prstGeom>
            <a:solidFill>
              <a:srgbClr val="EBF3FF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EAC441B-C9FD-498E-A79C-163F7BB72BB0}"/>
                </a:ext>
              </a:extLst>
            </p:cNvPr>
            <p:cNvSpPr txBox="1"/>
            <p:nvPr/>
          </p:nvSpPr>
          <p:spPr>
            <a:xfrm>
              <a:off x="4535424" y="1545336"/>
              <a:ext cx="3063240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>
                  <a:solidFill>
                    <a:srgbClr val="212121"/>
                  </a:solidFill>
                  <a:latin typeface="Arial"/>
                </a:rPr>
                <a:t>THE IMPACT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D822199-2646-B5DE-A4AF-A7DD8A586B07}"/>
                </a:ext>
              </a:extLst>
            </p:cNvPr>
            <p:cNvSpPr txBox="1"/>
            <p:nvPr/>
          </p:nvSpPr>
          <p:spPr>
            <a:xfrm>
              <a:off x="4535424" y="1938527"/>
              <a:ext cx="3044953" cy="35647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50" b="0" dirty="0">
                  <a:solidFill>
                    <a:srgbClr val="595959"/>
                  </a:solidFill>
                  <a:latin typeface="Arial"/>
                </a:rPr>
                <a:t>Standard digital flows — including KYS / supplier onboarding and bank-account opening — cannot be executed legally and scaled through supply chains.</a:t>
              </a:r>
              <a:endParaRPr lang="de-DE" sz="1350" b="0" dirty="0">
                <a:solidFill>
                  <a:srgbClr val="595959"/>
                </a:solidFill>
                <a:latin typeface="Arial"/>
              </a:endParaRPr>
            </a:p>
            <a:p>
              <a:pPr algn="l"/>
              <a:endParaRPr lang="de-DE" sz="1350" b="0" dirty="0">
                <a:solidFill>
                  <a:srgbClr val="595959"/>
                </a:solidFill>
                <a:latin typeface="Arial"/>
              </a:endParaRPr>
            </a:p>
            <a:p>
              <a:pPr algn="ctr"/>
              <a:r>
                <a:rPr lang="de-DE" sz="1350" dirty="0" err="1">
                  <a:solidFill>
                    <a:srgbClr val="595959"/>
                  </a:solidFill>
                  <a:latin typeface="Arial"/>
                </a:rPr>
                <a:t>Conclusion</a:t>
              </a:r>
              <a:r>
                <a:rPr lang="de-DE" sz="1350" dirty="0">
                  <a:solidFill>
                    <a:srgbClr val="595959"/>
                  </a:solidFill>
                  <a:latin typeface="Arial"/>
                </a:rPr>
                <a:t> and </a:t>
              </a:r>
              <a:r>
                <a:rPr lang="de-DE" sz="1350" dirty="0" err="1">
                  <a:solidFill>
                    <a:srgbClr val="595959"/>
                  </a:solidFill>
                  <a:latin typeface="Arial"/>
                </a:rPr>
                <a:t>evidence</a:t>
              </a:r>
              <a:r>
                <a:rPr lang="de-DE" sz="135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dirty="0" err="1">
                  <a:solidFill>
                    <a:srgbClr val="595959"/>
                  </a:solidFill>
                  <a:latin typeface="Arial"/>
                </a:rPr>
                <a:t>is</a:t>
              </a:r>
              <a:r>
                <a:rPr lang="de-DE" sz="135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dirty="0" err="1">
                  <a:solidFill>
                    <a:srgbClr val="595959"/>
                  </a:solidFill>
                  <a:latin typeface="Arial"/>
                </a:rPr>
                <a:t>based</a:t>
              </a:r>
              <a:r>
                <a:rPr lang="de-DE" sz="1350" dirty="0">
                  <a:solidFill>
                    <a:srgbClr val="595959"/>
                  </a:solidFill>
                  <a:latin typeface="Arial"/>
                </a:rPr>
                <a:t> on MVP </a:t>
              </a:r>
              <a:r>
                <a:rPr lang="de-DE" sz="1350" dirty="0" err="1">
                  <a:solidFill>
                    <a:srgbClr val="595959"/>
                  </a:solidFill>
                  <a:latin typeface="Arial"/>
                </a:rPr>
                <a:t>pilot</a:t>
              </a:r>
              <a:r>
                <a:rPr lang="de-DE" sz="135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dirty="0" err="1">
                  <a:solidFill>
                    <a:srgbClr val="595959"/>
                  </a:solidFill>
                  <a:latin typeface="Arial"/>
                </a:rPr>
                <a:t>operation</a:t>
              </a:r>
              <a:endParaRPr sz="1350" b="0" dirty="0">
                <a:solidFill>
                  <a:srgbClr val="595959"/>
                </a:solidFill>
                <a:latin typeface="Arial"/>
              </a:endParaRPr>
            </a:p>
          </p:txBody>
        </p:sp>
        <p:sp>
          <p:nvSpPr>
            <p:cNvPr id="21" name="Rounded Rectangle 15">
              <a:extLst>
                <a:ext uri="{FF2B5EF4-FFF2-40B4-BE49-F238E27FC236}">
                  <a16:creationId xmlns:a16="http://schemas.microsoft.com/office/drawing/2014/main" id="{AB333779-EA9E-F1F7-0A2A-4BCC70AF4504}"/>
                </a:ext>
              </a:extLst>
            </p:cNvPr>
            <p:cNvSpPr/>
            <p:nvPr/>
          </p:nvSpPr>
          <p:spPr>
            <a:xfrm>
              <a:off x="8010144" y="1417320"/>
              <a:ext cx="3337560" cy="4389120"/>
            </a:xfrm>
            <a:prstGeom prst="roundRect">
              <a:avLst/>
            </a:prstGeom>
            <a:solidFill>
              <a:srgbClr val="E7F7F9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194179C-AC95-E85E-4E20-A31282553EC9}"/>
                </a:ext>
              </a:extLst>
            </p:cNvPr>
            <p:cNvSpPr txBox="1"/>
            <p:nvPr/>
          </p:nvSpPr>
          <p:spPr>
            <a:xfrm>
              <a:off x="8174736" y="1545336"/>
              <a:ext cx="3063240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700" b="1">
                  <a:solidFill>
                    <a:srgbClr val="212121"/>
                  </a:solidFill>
                  <a:latin typeface="Arial"/>
                </a:rPr>
                <a:t>THE OPPORTUNITY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6641011-14D9-33AD-7832-1E0FB7025CD9}"/>
                </a:ext>
              </a:extLst>
            </p:cNvPr>
            <p:cNvSpPr txBox="1"/>
            <p:nvPr/>
          </p:nvSpPr>
          <p:spPr>
            <a:xfrm>
              <a:off x="8174736" y="1938527"/>
              <a:ext cx="3044953" cy="356472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50" b="0" dirty="0">
                  <a:solidFill>
                    <a:srgbClr val="595959"/>
                  </a:solidFill>
                  <a:latin typeface="Arial"/>
                </a:rPr>
                <a:t>Surgically targeted compromise text can preserve the Council's security threshold while restoring high-assurance B2B viability.</a:t>
              </a:r>
              <a:endParaRPr lang="de-DE" sz="1350" b="0" dirty="0">
                <a:solidFill>
                  <a:srgbClr val="595959"/>
                </a:solidFill>
                <a:latin typeface="Arial"/>
              </a:endParaRPr>
            </a:p>
            <a:p>
              <a:pPr algn="l"/>
              <a:endParaRPr lang="de-DE" sz="1350" dirty="0">
                <a:solidFill>
                  <a:srgbClr val="595959"/>
                </a:solidFill>
                <a:latin typeface="Arial"/>
              </a:endParaRPr>
            </a:p>
            <a:p>
              <a:pPr algn="ctr"/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The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distributed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position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paper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proposes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concrete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ammendments</a:t>
              </a:r>
              <a:r>
                <a:rPr lang="de-DE" sz="1350" b="0" dirty="0">
                  <a:solidFill>
                    <a:srgbClr val="595959"/>
                  </a:solidFill>
                  <a:latin typeface="Arial"/>
                </a:rPr>
                <a:t> to the EBW </a:t>
              </a:r>
              <a:r>
                <a:rPr lang="de-DE" sz="1350" b="0" dirty="0" err="1">
                  <a:solidFill>
                    <a:srgbClr val="595959"/>
                  </a:solidFill>
                  <a:latin typeface="Arial"/>
                </a:rPr>
                <a:t>regulation</a:t>
              </a:r>
              <a:endParaRPr sz="1350" b="0" dirty="0">
                <a:solidFill>
                  <a:srgbClr val="595959"/>
                </a:solidFill>
                <a:latin typeface="Arial"/>
              </a:endParaRPr>
            </a:p>
          </p:txBody>
        </p:sp>
        <p:sp>
          <p:nvSpPr>
            <p:cNvPr id="29" name="Rounded Rectangle 19">
              <a:extLst>
                <a:ext uri="{FF2B5EF4-FFF2-40B4-BE49-F238E27FC236}">
                  <a16:creationId xmlns:a16="http://schemas.microsoft.com/office/drawing/2014/main" id="{A48D14D8-ACBA-B363-9A7A-5C1BB592EB40}"/>
                </a:ext>
              </a:extLst>
            </p:cNvPr>
            <p:cNvSpPr/>
            <p:nvPr/>
          </p:nvSpPr>
          <p:spPr>
            <a:xfrm>
              <a:off x="896112" y="5894053"/>
              <a:ext cx="9953916" cy="461453"/>
            </a:xfrm>
            <a:prstGeom prst="roundRect">
              <a:avLst/>
            </a:prstGeom>
            <a:solidFill>
              <a:srgbClr val="EBF3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7D8158F-CB19-F391-0569-D891DFE67726}"/>
                </a:ext>
              </a:extLst>
            </p:cNvPr>
            <p:cNvSpPr txBox="1"/>
            <p:nvPr/>
          </p:nvSpPr>
          <p:spPr>
            <a:xfrm>
              <a:off x="610751" y="5917124"/>
              <a:ext cx="10443408" cy="415307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 dirty="0">
                  <a:solidFill>
                    <a:srgbClr val="4285F4"/>
                  </a:solidFill>
                  <a:latin typeface="Arial"/>
                </a:rPr>
                <a:t>OUR ASK 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Re-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introduce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specific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,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compromise-focused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text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into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Articles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4, 5, and 6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to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secure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 B2B </a:t>
              </a:r>
              <a:r>
                <a:rPr lang="de-DE" sz="1200" b="1" dirty="0" err="1">
                  <a:solidFill>
                    <a:srgbClr val="4285F4"/>
                  </a:solidFill>
                  <a:latin typeface="Arial"/>
                </a:rPr>
                <a:t>viability</a:t>
              </a:r>
              <a:r>
                <a:rPr lang="de-DE" sz="1200" b="1" dirty="0">
                  <a:solidFill>
                    <a:srgbClr val="4285F4"/>
                  </a:solidFill>
                  <a:latin typeface="Arial"/>
                </a:rPr>
                <a:t>.</a:t>
              </a:r>
              <a:endParaRPr sz="1200" b="1" dirty="0">
                <a:solidFill>
                  <a:srgbClr val="4285F4"/>
                </a:solidFill>
                <a:latin typeface="Arial"/>
              </a:endParaRP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97A42D81-45A1-1F56-C6FA-FF53B926EE0A}"/>
              </a:ext>
            </a:extLst>
          </p:cNvPr>
          <p:cNvSpPr txBox="1"/>
          <p:nvPr/>
        </p:nvSpPr>
        <p:spPr>
          <a:xfrm>
            <a:off x="1469760" y="861768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595959"/>
                </a:solidFill>
                <a:latin typeface="Arial"/>
              </a:rPr>
              <a:t>How the current Council draft unintentionally blocks key B2B use cases.</a:t>
            </a:r>
          </a:p>
        </p:txBody>
      </p:sp>
    </p:spTree>
    <p:extLst>
      <p:ext uri="{BB962C8B-B14F-4D97-AF65-F5344CB8AC3E}">
        <p14:creationId xmlns:p14="http://schemas.microsoft.com/office/powerpoint/2010/main" val="325884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D8C64-1672-75BE-EE7A-84FB16283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8D0C0CC7-01E4-42FC-AEC0-3D55C5A05371}"/>
              </a:ext>
            </a:extLst>
          </p:cNvPr>
          <p:cNvSpPr/>
          <p:nvPr/>
        </p:nvSpPr>
        <p:spPr>
          <a:xfrm>
            <a:off x="2965951" y="1254470"/>
            <a:ext cx="5300770" cy="835819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7CCB53-4C28-16E5-3864-3F3BE6962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487" y="505326"/>
            <a:ext cx="7084234" cy="383130"/>
          </a:xfrm>
        </p:spPr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“We Build” Lessons Learned: Native EAA Issuance Is a Non-Negotiable MUST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133EE2-6062-D688-70F3-475175C7C3A8}"/>
              </a:ext>
            </a:extLst>
          </p:cNvPr>
          <p:cNvSpPr txBox="1"/>
          <p:nvPr/>
        </p:nvSpPr>
        <p:spPr>
          <a:xfrm>
            <a:off x="1195268" y="848042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Real-world “We Build” pilot experience shows why third-party-only models cannot scale</a:t>
            </a:r>
            <a:r>
              <a:rPr sz="1350" b="0" dirty="0">
                <a:solidFill>
                  <a:srgbClr val="595959"/>
                </a:solidFill>
                <a:latin typeface="Arial"/>
              </a:rPr>
              <a:t>.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1F29E1D7-6B6F-51B4-C8FA-AFF8DCDC4F0F}"/>
              </a:ext>
            </a:extLst>
          </p:cNvPr>
          <p:cNvSpPr/>
          <p:nvPr/>
        </p:nvSpPr>
        <p:spPr>
          <a:xfrm>
            <a:off x="749809" y="1279000"/>
            <a:ext cx="2124494" cy="3308580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534A5C-DAB6-6D15-5E47-88819CC3EFDE}"/>
              </a:ext>
            </a:extLst>
          </p:cNvPr>
          <p:cNvSpPr txBox="1"/>
          <p:nvPr/>
        </p:nvSpPr>
        <p:spPr>
          <a:xfrm>
            <a:off x="877279" y="1372576"/>
            <a:ext cx="1912044" cy="253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12121"/>
                </a:solidFill>
                <a:latin typeface="Arial"/>
              </a:rPr>
              <a:t>THE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A864D3-C93A-237E-7B3B-3614CAC17CE9}"/>
              </a:ext>
            </a:extLst>
          </p:cNvPr>
          <p:cNvSpPr txBox="1"/>
          <p:nvPr/>
        </p:nvSpPr>
        <p:spPr>
          <a:xfrm>
            <a:off x="877279" y="1659987"/>
            <a:ext cx="1897881" cy="28540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Arial"/>
              </a:rPr>
              <a:t>A standard financial KYC onboarding needs multiple business attributes. Only a subset can come from Qualified EAAs or public registries.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2AD1F-6909-7FDB-2756-887AC0965084}"/>
              </a:ext>
            </a:extLst>
          </p:cNvPr>
          <p:cNvSpPr txBox="1"/>
          <p:nvPr/>
        </p:nvSpPr>
        <p:spPr>
          <a:xfrm>
            <a:off x="4488121" y="1251288"/>
            <a:ext cx="708165" cy="53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12121"/>
                </a:solidFill>
                <a:latin typeface="Arial"/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E2EF8-52B0-E72A-682D-2B85BA91B0F9}"/>
              </a:ext>
            </a:extLst>
          </p:cNvPr>
          <p:cNvSpPr txBox="1"/>
          <p:nvPr/>
        </p:nvSpPr>
        <p:spPr>
          <a:xfrm>
            <a:off x="4316066" y="1685437"/>
            <a:ext cx="135976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200" b="0" dirty="0">
                <a:solidFill>
                  <a:srgbClr val="595959"/>
                </a:solidFill>
                <a:latin typeface="Arial"/>
              </a:rPr>
              <a:t>Minimum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Required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EAAs</a:t>
            </a:r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954F1E4B-0894-874C-E99C-CD0F89AA7C12}"/>
              </a:ext>
            </a:extLst>
          </p:cNvPr>
          <p:cNvCxnSpPr/>
          <p:nvPr/>
        </p:nvCxnSpPr>
        <p:spPr>
          <a:xfrm>
            <a:off x="5196286" y="1505280"/>
            <a:ext cx="566532" cy="0"/>
          </a:xfrm>
          <a:prstGeom prst="line">
            <a:avLst/>
          </a:prstGeom>
          <a:ln w="3175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0316C44-E0BC-1C93-5F37-5F59C839EB2B}"/>
              </a:ext>
            </a:extLst>
          </p:cNvPr>
          <p:cNvSpPr txBox="1"/>
          <p:nvPr/>
        </p:nvSpPr>
        <p:spPr>
          <a:xfrm>
            <a:off x="5798226" y="1251288"/>
            <a:ext cx="708165" cy="53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0097A7"/>
                </a:solidFill>
                <a:latin typeface="Arial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084559-653E-BDA7-F998-4E16E0111AC6}"/>
              </a:ext>
            </a:extLst>
          </p:cNvPr>
          <p:cNvSpPr txBox="1"/>
          <p:nvPr/>
        </p:nvSpPr>
        <p:spPr>
          <a:xfrm>
            <a:off x="5656593" y="1719168"/>
            <a:ext cx="99143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Required</a:t>
            </a:r>
            <a:br>
              <a:rPr lang="de-DE" sz="1200" b="0" dirty="0">
                <a:solidFill>
                  <a:srgbClr val="595959"/>
                </a:solidFill>
                <a:latin typeface="Arial"/>
              </a:rPr>
            </a:br>
            <a:r>
              <a:rPr sz="1200" b="0" dirty="0">
                <a:solidFill>
                  <a:srgbClr val="595959"/>
                </a:solidFill>
                <a:latin typeface="Arial"/>
              </a:rPr>
              <a:t>QEAAs</a:t>
            </a:r>
          </a:p>
        </p:txBody>
      </p:sp>
      <p:cxnSp>
        <p:nvCxnSpPr>
          <p:cNvPr id="20" name="Connector 16">
            <a:extLst>
              <a:ext uri="{FF2B5EF4-FFF2-40B4-BE49-F238E27FC236}">
                <a16:creationId xmlns:a16="http://schemas.microsoft.com/office/drawing/2014/main" id="{1158A70D-99A8-0444-7796-A9359AB04597}"/>
              </a:ext>
            </a:extLst>
          </p:cNvPr>
          <p:cNvCxnSpPr/>
          <p:nvPr/>
        </p:nvCxnSpPr>
        <p:spPr>
          <a:xfrm>
            <a:off x="6506391" y="1505280"/>
            <a:ext cx="566532" cy="0"/>
          </a:xfrm>
          <a:prstGeom prst="line">
            <a:avLst/>
          </a:prstGeom>
          <a:ln w="3175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AE83A6-6142-FD7F-D4A3-D674FB6B9C50}"/>
              </a:ext>
            </a:extLst>
          </p:cNvPr>
          <p:cNvSpPr txBox="1"/>
          <p:nvPr/>
        </p:nvSpPr>
        <p:spPr>
          <a:xfrm>
            <a:off x="7108331" y="1251288"/>
            <a:ext cx="708165" cy="53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AB40"/>
                </a:solidFill>
                <a:latin typeface="Arial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A5B3A5-7AE8-A113-4AB9-75AFB3180BE3}"/>
              </a:ext>
            </a:extLst>
          </p:cNvPr>
          <p:cNvSpPr txBox="1"/>
          <p:nvPr/>
        </p:nvSpPr>
        <p:spPr>
          <a:xfrm>
            <a:off x="6966698" y="1719168"/>
            <a:ext cx="111455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Required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Pub-EAAs</a:t>
            </a:r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57355CC-1888-162D-09D7-9420F0364887}"/>
              </a:ext>
            </a:extLst>
          </p:cNvPr>
          <p:cNvGrpSpPr/>
          <p:nvPr/>
        </p:nvGrpSpPr>
        <p:grpSpPr>
          <a:xfrm>
            <a:off x="3001772" y="2161548"/>
            <a:ext cx="5812070" cy="1188046"/>
            <a:chOff x="3001772" y="2541300"/>
            <a:chExt cx="5721969" cy="768660"/>
          </a:xfrm>
        </p:grpSpPr>
        <p:sp>
          <p:nvSpPr>
            <p:cNvPr id="26" name="Rounded Rectangle 19">
              <a:extLst>
                <a:ext uri="{FF2B5EF4-FFF2-40B4-BE49-F238E27FC236}">
                  <a16:creationId xmlns:a16="http://schemas.microsoft.com/office/drawing/2014/main" id="{F3E68803-590B-DD7D-C3AF-67B6C0770D3E}"/>
                </a:ext>
              </a:extLst>
            </p:cNvPr>
            <p:cNvSpPr/>
            <p:nvPr/>
          </p:nvSpPr>
          <p:spPr>
            <a:xfrm>
              <a:off x="3001772" y="2541300"/>
              <a:ext cx="5183330" cy="768660"/>
            </a:xfrm>
            <a:prstGeom prst="roundRect">
              <a:avLst/>
            </a:prstGeom>
            <a:solidFill>
              <a:srgbClr val="E7F7F9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51B1496-32BA-6300-384E-CD3AAA7B5350}"/>
                </a:ext>
              </a:extLst>
            </p:cNvPr>
            <p:cNvSpPr txBox="1"/>
            <p:nvPr/>
          </p:nvSpPr>
          <p:spPr>
            <a:xfrm>
              <a:off x="3129242" y="2634876"/>
              <a:ext cx="5594499" cy="2539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1" dirty="0">
                  <a:solidFill>
                    <a:srgbClr val="212121"/>
                  </a:solidFill>
                  <a:latin typeface="Arial"/>
                </a:rPr>
                <a:t>REGISTRY GAP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601C671-BD71-2BB9-A3A0-2543104653D5}"/>
                </a:ext>
              </a:extLst>
            </p:cNvPr>
            <p:cNvSpPr txBox="1"/>
            <p:nvPr/>
          </p:nvSpPr>
          <p:spPr>
            <a:xfrm>
              <a:off x="3065507" y="2856494"/>
              <a:ext cx="5015991" cy="44804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00" b="0" dirty="0">
                  <a:solidFill>
                    <a:srgbClr val="595959"/>
                  </a:solidFill>
                  <a:latin typeface="Arial"/>
                </a:rPr>
                <a:t>UBO structures, operational addresses and similar data are often not held in authentic public registries and must be self-asserted by the business.</a:t>
              </a:r>
            </a:p>
          </p:txBody>
        </p:sp>
      </p:grpSp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32E779CA-2412-6D29-9E98-7E231FC58AA4}"/>
              </a:ext>
            </a:extLst>
          </p:cNvPr>
          <p:cNvSpPr/>
          <p:nvPr/>
        </p:nvSpPr>
        <p:spPr>
          <a:xfrm>
            <a:off x="3001772" y="3477059"/>
            <a:ext cx="5264949" cy="1129595"/>
          </a:xfrm>
          <a:prstGeom prst="roundRect">
            <a:avLst/>
          </a:prstGeom>
          <a:solidFill>
            <a:srgbClr val="FFF6E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AE5B6D-DD64-DD3A-4B2A-671538250A4E}"/>
              </a:ext>
            </a:extLst>
          </p:cNvPr>
          <p:cNvSpPr txBox="1"/>
          <p:nvPr/>
        </p:nvSpPr>
        <p:spPr>
          <a:xfrm>
            <a:off x="3129242" y="3570636"/>
            <a:ext cx="5594499" cy="253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rial"/>
              </a:rPr>
              <a:t>LEGACY TRANSITION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F8BFE1-9A53-F770-CA8E-4AB7F898FA45}"/>
              </a:ext>
            </a:extLst>
          </p:cNvPr>
          <p:cNvSpPr txBox="1"/>
          <p:nvPr/>
        </p:nvSpPr>
        <p:spPr>
          <a:xfrm>
            <a:off x="3129242" y="3858046"/>
            <a:ext cx="472073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Businesses need to sign and self-assert existing valid documents — including PDFs — rather than wait years for every certificate to become digitally issued.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2D5882-9808-1C1B-E37D-FDEBAE4F544A}"/>
              </a:ext>
            </a:extLst>
          </p:cNvPr>
          <p:cNvSpPr txBox="1"/>
          <p:nvPr/>
        </p:nvSpPr>
        <p:spPr>
          <a:xfrm>
            <a:off x="3015936" y="1200448"/>
            <a:ext cx="12068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de-DE" sz="1400" b="1" dirty="0" err="1">
                <a:solidFill>
                  <a:srgbClr val="212121"/>
                </a:solidFill>
                <a:latin typeface="Arial"/>
              </a:rPr>
              <a:t>KyC</a:t>
            </a:r>
            <a:r>
              <a:rPr lang="de-DE" sz="1400" b="1" dirty="0">
                <a:solidFill>
                  <a:srgbClr val="212121"/>
                </a:solidFill>
                <a:latin typeface="Arial"/>
              </a:rPr>
              <a:t> </a:t>
            </a:r>
          </a:p>
          <a:p>
            <a:pPr algn="l"/>
            <a:r>
              <a:rPr lang="de-DE" sz="1400" b="1" dirty="0">
                <a:solidFill>
                  <a:srgbClr val="212121"/>
                </a:solidFill>
                <a:latin typeface="Arial"/>
              </a:rPr>
              <a:t>Financial</a:t>
            </a:r>
          </a:p>
          <a:p>
            <a:pPr algn="l"/>
            <a:r>
              <a:rPr lang="de-DE" sz="1400" b="1" dirty="0">
                <a:solidFill>
                  <a:srgbClr val="212121"/>
                </a:solidFill>
                <a:latin typeface="Arial"/>
              </a:rPr>
              <a:t>Use Case (MVP)</a:t>
            </a:r>
          </a:p>
        </p:txBody>
      </p:sp>
    </p:spTree>
    <p:extLst>
      <p:ext uri="{BB962C8B-B14F-4D97-AF65-F5344CB8AC3E}">
        <p14:creationId xmlns:p14="http://schemas.microsoft.com/office/powerpoint/2010/main" val="333078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4C4D-C44F-442E-44B4-71860FDB5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7221-6B12-E046-55AB-B4202AE4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411074"/>
            <a:ext cx="6750000" cy="549115"/>
          </a:xfrm>
        </p:spPr>
        <p:txBody>
          <a:bodyPr/>
          <a:lstStyle/>
          <a:p>
            <a:r>
              <a:rPr lang="en-US" sz="2400" dirty="0">
                <a:solidFill>
                  <a:srgbClr val="212121"/>
                </a:solidFill>
                <a:latin typeface="Arial"/>
              </a:rPr>
              <a:t>Case Study: </a:t>
            </a:r>
            <a:r>
              <a:rPr lang="en-US" sz="2400" dirty="0">
                <a:solidFill>
                  <a:schemeClr val="accent5"/>
                </a:solidFill>
                <a:latin typeface="Arial"/>
              </a:rPr>
              <a:t>Practical Limitations of External QTSPs Issuing Bank Attestations</a:t>
            </a:r>
            <a:endParaRPr lang="de-DE" sz="2400" dirty="0">
              <a:solidFill>
                <a:schemeClr val="accent5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74698E-E690-2293-7DA4-2A6D444CDAF1}"/>
              </a:ext>
            </a:extLst>
          </p:cNvPr>
          <p:cNvSpPr txBox="1"/>
          <p:nvPr/>
        </p:nvSpPr>
        <p:spPr>
          <a:xfrm>
            <a:off x="1143111" y="999568"/>
            <a:ext cx="7584051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Consultation results between Deutsche Bank, a QTSP and Robert Bosch (Holder/RP).</a:t>
            </a:r>
          </a:p>
        </p:txBody>
      </p:sp>
      <p:sp>
        <p:nvSpPr>
          <p:cNvPr id="3" name="Rounded Rectangle 7">
            <a:extLst>
              <a:ext uri="{FF2B5EF4-FFF2-40B4-BE49-F238E27FC236}">
                <a16:creationId xmlns:a16="http://schemas.microsoft.com/office/drawing/2014/main" id="{BC9EA908-93BD-CA1C-D486-C4626F0DA3FB}"/>
              </a:ext>
            </a:extLst>
          </p:cNvPr>
          <p:cNvSpPr/>
          <p:nvPr/>
        </p:nvSpPr>
        <p:spPr>
          <a:xfrm>
            <a:off x="76200" y="1417320"/>
            <a:ext cx="2512859" cy="2174468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A50B8-C4BE-4810-F148-BAAF1C869A55}"/>
              </a:ext>
            </a:extLst>
          </p:cNvPr>
          <p:cNvSpPr txBox="1"/>
          <p:nvPr/>
        </p:nvSpPr>
        <p:spPr>
          <a:xfrm>
            <a:off x="220249" y="1503998"/>
            <a:ext cx="2360808" cy="235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Arial"/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AE2B79-BC6D-3A56-5000-0FA36770A40F}"/>
              </a:ext>
            </a:extLst>
          </p:cNvPr>
          <p:cNvSpPr txBox="1"/>
          <p:nvPr/>
        </p:nvSpPr>
        <p:spPr>
          <a:xfrm>
            <a:off x="220249" y="1770221"/>
            <a:ext cx="2344803" cy="25507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Arial"/>
              </a:rPr>
              <a:t>Can a third-party QTSP issue an IBAN QEAA on behalf of a bank?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A40553-9889-1B2E-1450-855C4E07F0FF}"/>
              </a:ext>
            </a:extLst>
          </p:cNvPr>
          <p:cNvSpPr txBox="1"/>
          <p:nvPr/>
        </p:nvSpPr>
        <p:spPr>
          <a:xfrm>
            <a:off x="2957186" y="1726882"/>
            <a:ext cx="1600548" cy="7429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dirty="0">
                <a:solidFill>
                  <a:srgbClr val="C24646"/>
                </a:solidFill>
                <a:latin typeface="Arial"/>
              </a:rPr>
              <a:t>NO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76E57A-25AE-EA07-6E40-402B31F7A56C}"/>
              </a:ext>
            </a:extLst>
          </p:cNvPr>
          <p:cNvSpPr txBox="1"/>
          <p:nvPr/>
        </p:nvSpPr>
        <p:spPr>
          <a:xfrm>
            <a:off x="2717104" y="2426494"/>
            <a:ext cx="2080712" cy="1661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C24646"/>
                </a:solidFill>
                <a:latin typeface="Arial"/>
              </a:rPr>
              <a:t>Operationally
</a:t>
            </a:r>
            <a:r>
              <a:rPr lang="de-DE" sz="1700" b="1" dirty="0" err="1">
                <a:solidFill>
                  <a:srgbClr val="C24646"/>
                </a:solidFill>
                <a:latin typeface="Arial"/>
              </a:rPr>
              <a:t>difficult</a:t>
            </a:r>
            <a:r>
              <a:rPr lang="de-DE" sz="1700" b="1" dirty="0">
                <a:solidFill>
                  <a:srgbClr val="C24646"/>
                </a:solidFill>
                <a:latin typeface="Arial"/>
              </a:rPr>
              <a:t> due to </a:t>
            </a:r>
            <a:r>
              <a:rPr lang="de-DE" sz="1700" b="1" dirty="0" err="1">
                <a:solidFill>
                  <a:srgbClr val="C24646"/>
                </a:solidFill>
                <a:latin typeface="Arial"/>
              </a:rPr>
              <a:t>liability</a:t>
            </a:r>
            <a:r>
              <a:rPr lang="de-DE" sz="1700" b="1" dirty="0">
                <a:solidFill>
                  <a:srgbClr val="C24646"/>
                </a:solidFill>
                <a:latin typeface="Arial"/>
              </a:rPr>
              <a:t> and </a:t>
            </a:r>
            <a:r>
              <a:rPr lang="de-DE" sz="1700" b="1" dirty="0" err="1">
                <a:solidFill>
                  <a:srgbClr val="C24646"/>
                </a:solidFill>
                <a:latin typeface="Arial"/>
              </a:rPr>
              <a:t>confidentiality</a:t>
            </a:r>
            <a:r>
              <a:rPr lang="de-DE" sz="1700" b="1" dirty="0">
                <a:solidFill>
                  <a:srgbClr val="C24646"/>
                </a:solidFill>
                <a:latin typeface="Arial"/>
              </a:rPr>
              <a:t> </a:t>
            </a:r>
            <a:r>
              <a:rPr lang="de-DE" sz="1700" b="1" dirty="0" err="1">
                <a:solidFill>
                  <a:srgbClr val="C24646"/>
                </a:solidFill>
                <a:latin typeface="Arial"/>
              </a:rPr>
              <a:t>constraints</a:t>
            </a:r>
            <a:r>
              <a:rPr lang="de-DE" sz="1700" b="1" dirty="0">
                <a:solidFill>
                  <a:srgbClr val="C24646"/>
                </a:solidFill>
                <a:latin typeface="Arial"/>
              </a:rPr>
              <a:t> and </a:t>
            </a:r>
            <a:r>
              <a:rPr lang="de-DE" sz="1700" b="1" dirty="0" err="1">
                <a:solidFill>
                  <a:srgbClr val="C24646"/>
                </a:solidFill>
                <a:latin typeface="Arial"/>
              </a:rPr>
              <a:t>missing</a:t>
            </a:r>
            <a:r>
              <a:rPr lang="de-DE" sz="1700" b="1" dirty="0">
                <a:solidFill>
                  <a:srgbClr val="C24646"/>
                </a:solidFill>
                <a:latin typeface="Arial"/>
              </a:rPr>
              <a:t> </a:t>
            </a:r>
            <a:r>
              <a:rPr lang="de-DE" sz="1700" b="1" dirty="0" err="1">
                <a:solidFill>
                  <a:srgbClr val="C24646"/>
                </a:solidFill>
                <a:latin typeface="Arial"/>
              </a:rPr>
              <a:t>benefits</a:t>
            </a:r>
            <a:endParaRPr sz="1700" b="1" dirty="0">
              <a:solidFill>
                <a:srgbClr val="C24646"/>
              </a:solidFill>
              <a:latin typeface="Arial"/>
            </a:endParaRP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0CAB2879-3DD3-73C6-7EAE-CA35A7B076E0}"/>
              </a:ext>
            </a:extLst>
          </p:cNvPr>
          <p:cNvCxnSpPr/>
          <p:nvPr/>
        </p:nvCxnSpPr>
        <p:spPr>
          <a:xfrm>
            <a:off x="4637762" y="2098358"/>
            <a:ext cx="520178" cy="0"/>
          </a:xfrm>
          <a:prstGeom prst="line">
            <a:avLst/>
          </a:prstGeom>
          <a:ln w="38100">
            <a:solidFill>
              <a:srgbClr val="C246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27EC5D54-6802-22B9-E6A3-DD16B6595F46}"/>
              </a:ext>
            </a:extLst>
          </p:cNvPr>
          <p:cNvSpPr/>
          <p:nvPr/>
        </p:nvSpPr>
        <p:spPr>
          <a:xfrm>
            <a:off x="5197953" y="1417320"/>
            <a:ext cx="3641247" cy="835819"/>
          </a:xfrm>
          <a:prstGeom prst="roundRect">
            <a:avLst/>
          </a:prstGeom>
          <a:solidFill>
            <a:srgbClr val="FFF6E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DFC5C-B7EC-774F-45AE-643ABA2BD438}"/>
              </a:ext>
            </a:extLst>
          </p:cNvPr>
          <p:cNvSpPr txBox="1"/>
          <p:nvPr/>
        </p:nvSpPr>
        <p:spPr>
          <a:xfrm>
            <a:off x="5342003" y="1382079"/>
            <a:ext cx="3401164" cy="235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2121"/>
                </a:solidFill>
                <a:latin typeface="Arial"/>
              </a:rPr>
              <a:t>WHY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06FCF7-A8D8-C861-718A-5F5D2084106B}"/>
              </a:ext>
            </a:extLst>
          </p:cNvPr>
          <p:cNvSpPr txBox="1"/>
          <p:nvPr/>
        </p:nvSpPr>
        <p:spPr>
          <a:xfrm>
            <a:off x="5325996" y="1631275"/>
            <a:ext cx="3385159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Would require access to the bank’s internal systems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 to 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assume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full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liability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 </a:t>
            </a:r>
            <a:endParaRPr sz="13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80828F8D-BD9A-1C96-F090-601B80A2F743}"/>
              </a:ext>
            </a:extLst>
          </p:cNvPr>
          <p:cNvSpPr/>
          <p:nvPr/>
        </p:nvSpPr>
        <p:spPr>
          <a:xfrm>
            <a:off x="5197953" y="2376964"/>
            <a:ext cx="3641247" cy="835819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403BD2-54E3-4294-9A2B-3302EDBC2C09}"/>
              </a:ext>
            </a:extLst>
          </p:cNvPr>
          <p:cNvSpPr txBox="1"/>
          <p:nvPr/>
        </p:nvSpPr>
        <p:spPr>
          <a:xfrm>
            <a:off x="5342003" y="2370771"/>
            <a:ext cx="3401164" cy="235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2121"/>
                </a:solidFill>
                <a:latin typeface="Arial"/>
              </a:rPr>
              <a:t>BARRIER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04D633-1F17-0404-912F-ED013AED0938}"/>
              </a:ext>
            </a:extLst>
          </p:cNvPr>
          <p:cNvSpPr txBox="1"/>
          <p:nvPr/>
        </p:nvSpPr>
        <p:spPr>
          <a:xfrm>
            <a:off x="5370012" y="2620088"/>
            <a:ext cx="369778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Banking confidentiality and IT-security boundaries prevent a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n external </a:t>
            </a:r>
            <a:r>
              <a:rPr sz="13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„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provider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“</a:t>
            </a:r>
            <a:r>
              <a:rPr sz="1300" b="0" dirty="0">
                <a:solidFill>
                  <a:srgbClr val="595959"/>
                </a:solidFill>
                <a:latin typeface="Arial"/>
              </a:rPr>
              <a:t> from </a:t>
            </a:r>
            <a:endParaRPr lang="de-DE" sz="1300" b="0" dirty="0">
              <a:solidFill>
                <a:srgbClr val="595959"/>
              </a:solidFill>
              <a:latin typeface="Arial"/>
            </a:endParaRPr>
          </a:p>
          <a:p>
            <a:pPr algn="l"/>
            <a:r>
              <a:rPr lang="de-DE" sz="1300" dirty="0" err="1">
                <a:solidFill>
                  <a:srgbClr val="595959"/>
                </a:solidFill>
                <a:latin typeface="Arial"/>
              </a:rPr>
              <a:t>a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ccessing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bank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 ICT 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systems</a:t>
            </a:r>
            <a:endParaRPr sz="13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33" name="Rounded Rectangle 22">
            <a:extLst>
              <a:ext uri="{FF2B5EF4-FFF2-40B4-BE49-F238E27FC236}">
                <a16:creationId xmlns:a16="http://schemas.microsoft.com/office/drawing/2014/main" id="{DFA9D8E6-CB28-73A8-1123-3FE83DFC8AAE}"/>
              </a:ext>
            </a:extLst>
          </p:cNvPr>
          <p:cNvSpPr/>
          <p:nvPr/>
        </p:nvSpPr>
        <p:spPr>
          <a:xfrm>
            <a:off x="5197953" y="3336608"/>
            <a:ext cx="3641247" cy="835819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B597EE-7179-80CA-2A7E-F222A6F0B139}"/>
              </a:ext>
            </a:extLst>
          </p:cNvPr>
          <p:cNvSpPr txBox="1"/>
          <p:nvPr/>
        </p:nvSpPr>
        <p:spPr>
          <a:xfrm>
            <a:off x="5342003" y="3423285"/>
            <a:ext cx="3401164" cy="2352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12121"/>
                </a:solidFill>
                <a:latin typeface="Arial"/>
              </a:rPr>
              <a:t>VIABLE SOLUTION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598A46-12A8-BF71-8F02-3BB66B62B7DB}"/>
              </a:ext>
            </a:extLst>
          </p:cNvPr>
          <p:cNvSpPr txBox="1"/>
          <p:nvPr/>
        </p:nvSpPr>
        <p:spPr>
          <a:xfrm>
            <a:off x="5342003" y="3689508"/>
            <a:ext cx="3385159" cy="41481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The bank issues the IBAN EAA directly to its customer using its own EBW.</a:t>
            </a: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D5E18AD7-65BC-D686-1E07-440F84382D8D}"/>
              </a:ext>
            </a:extLst>
          </p:cNvPr>
          <p:cNvSpPr/>
          <p:nvPr/>
        </p:nvSpPr>
        <p:spPr>
          <a:xfrm>
            <a:off x="660502" y="4258008"/>
            <a:ext cx="7604760" cy="588276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439AA1-8BDB-5364-928F-9106A286D39C}"/>
              </a:ext>
            </a:extLst>
          </p:cNvPr>
          <p:cNvSpPr txBox="1"/>
          <p:nvPr/>
        </p:nvSpPr>
        <p:spPr>
          <a:xfrm>
            <a:off x="941495" y="4294822"/>
            <a:ext cx="739253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No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legislative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requirement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and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incentive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for EBW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owners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to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purchase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from a QTSP UBO and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other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EAAs „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issued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on behalf of a EBW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owner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by a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provider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“.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3688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74FF-27C3-8078-7670-E72C9F26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0062-B364-7D67-898D-306E1F841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The Economic Impact: The SME “Pay-</a:t>
            </a:r>
            <a:br>
              <a:rPr lang="en-US" sz="2800" dirty="0">
                <a:solidFill>
                  <a:srgbClr val="212121"/>
                </a:solidFill>
                <a:latin typeface="Arial"/>
              </a:rPr>
            </a:br>
            <a:r>
              <a:rPr lang="en-US" sz="2800" dirty="0">
                <a:solidFill>
                  <a:srgbClr val="212121"/>
                </a:solidFill>
                <a:latin typeface="Arial"/>
              </a:rPr>
              <a:t>per-Credential” Trap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D44A57F-3063-F167-359A-0B65B2550D09}"/>
              </a:ext>
            </a:extLst>
          </p:cNvPr>
          <p:cNvSpPr txBox="1"/>
          <p:nvPr/>
        </p:nvSpPr>
        <p:spPr>
          <a:xfrm>
            <a:off x="1143111" y="921958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Why removing native issuance can raise, rather than lower, the cost of digital B2B</a:t>
            </a:r>
            <a:r>
              <a:rPr sz="1350" b="0" dirty="0">
                <a:solidFill>
                  <a:srgbClr val="595959"/>
                </a:solidFill>
                <a:latin typeface="Arial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1A9DFE-333A-CC60-4BDF-66E6A6357AF6}"/>
              </a:ext>
            </a:extLst>
          </p:cNvPr>
          <p:cNvSpPr txBox="1"/>
          <p:nvPr/>
        </p:nvSpPr>
        <p:spPr>
          <a:xfrm>
            <a:off x="648007" y="1325881"/>
            <a:ext cx="322295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200" b="1" dirty="0">
                <a:solidFill>
                  <a:srgbClr val="595959"/>
                </a:solidFill>
                <a:latin typeface="Arial"/>
              </a:rPr>
              <a:t>FLOW FROM </a:t>
            </a:r>
            <a:r>
              <a:rPr sz="1200" b="1" dirty="0">
                <a:solidFill>
                  <a:srgbClr val="595959"/>
                </a:solidFill>
                <a:latin typeface="Arial"/>
              </a:rPr>
              <a:t>CURRENT COUNCIL TEXT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81324DE9-EAD3-D2EE-D934-16C9586F3428}"/>
              </a:ext>
            </a:extLst>
          </p:cNvPr>
          <p:cNvSpPr/>
          <p:nvPr/>
        </p:nvSpPr>
        <p:spPr>
          <a:xfrm>
            <a:off x="609599" y="1688449"/>
            <a:ext cx="1997210" cy="789298"/>
          </a:xfrm>
          <a:prstGeom prst="roundRect">
            <a:avLst/>
          </a:prstGeom>
          <a:solidFill>
            <a:srgbClr val="FFF6E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D1E3DE-ADB2-0A95-518F-8E6DBCC6F43D}"/>
              </a:ext>
            </a:extLst>
          </p:cNvPr>
          <p:cNvSpPr txBox="1"/>
          <p:nvPr/>
        </p:nvSpPr>
        <p:spPr>
          <a:xfrm>
            <a:off x="609599" y="1789969"/>
            <a:ext cx="2027935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500" b="1" dirty="0">
                <a:solidFill>
                  <a:srgbClr val="212121"/>
                </a:solidFill>
                <a:latin typeface="Arial"/>
              </a:rPr>
              <a:t>External „Provider“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F5C26-7B15-E2E5-95AF-699716101711}"/>
              </a:ext>
            </a:extLst>
          </p:cNvPr>
          <p:cNvSpPr txBox="1"/>
          <p:nvPr/>
        </p:nvSpPr>
        <p:spPr>
          <a:xfrm>
            <a:off x="663370" y="2055397"/>
            <a:ext cx="17514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rgbClr val="595959"/>
                </a:solidFill>
                <a:latin typeface="Arial"/>
              </a:rPr>
              <a:t>“Issue on behalf of the EBW owner”</a:t>
            </a:r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cxnSp>
        <p:nvCxnSpPr>
          <p:cNvPr id="15" name="Connector 12">
            <a:extLst>
              <a:ext uri="{FF2B5EF4-FFF2-40B4-BE49-F238E27FC236}">
                <a16:creationId xmlns:a16="http://schemas.microsoft.com/office/drawing/2014/main" id="{747899F9-2F40-23EC-2538-DD58E4E0B98B}"/>
              </a:ext>
            </a:extLst>
          </p:cNvPr>
          <p:cNvCxnSpPr>
            <a:cxnSpLocks/>
          </p:cNvCxnSpPr>
          <p:nvPr/>
        </p:nvCxnSpPr>
        <p:spPr>
          <a:xfrm>
            <a:off x="2606809" y="2072773"/>
            <a:ext cx="460895" cy="0"/>
          </a:xfrm>
          <a:prstGeom prst="line">
            <a:avLst/>
          </a:prstGeom>
          <a:ln w="3175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3">
            <a:extLst>
              <a:ext uri="{FF2B5EF4-FFF2-40B4-BE49-F238E27FC236}">
                <a16:creationId xmlns:a16="http://schemas.microsoft.com/office/drawing/2014/main" id="{4D976C68-6DEA-C545-3700-625556DAF304}"/>
              </a:ext>
            </a:extLst>
          </p:cNvPr>
          <p:cNvSpPr/>
          <p:nvPr/>
        </p:nvSpPr>
        <p:spPr>
          <a:xfrm>
            <a:off x="3067704" y="1688449"/>
            <a:ext cx="2381289" cy="789298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BFAA0B-C8B7-A5C8-DF5A-1C845D99E505}"/>
              </a:ext>
            </a:extLst>
          </p:cNvPr>
          <p:cNvSpPr txBox="1"/>
          <p:nvPr/>
        </p:nvSpPr>
        <p:spPr>
          <a:xfrm>
            <a:off x="3205971" y="1789969"/>
            <a:ext cx="2150841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500" b="1" dirty="0">
                <a:solidFill>
                  <a:srgbClr val="212121"/>
                </a:solidFill>
                <a:latin typeface="Arial"/>
              </a:rPr>
              <a:t>SME Wallet Owner 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3EF6E3-5E7E-EE3F-D6E5-3BEA3632B684}"/>
              </a:ext>
            </a:extLst>
          </p:cNvPr>
          <p:cNvSpPr txBox="1"/>
          <p:nvPr/>
        </p:nvSpPr>
        <p:spPr>
          <a:xfrm>
            <a:off x="3205971" y="2101778"/>
            <a:ext cx="213547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rgbClr val="595959"/>
                </a:solidFill>
                <a:latin typeface="Arial"/>
              </a:rPr>
              <a:t>No native issuing</a:t>
            </a:r>
          </a:p>
          <a:p>
            <a:pPr algn="l"/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cxnSp>
        <p:nvCxnSpPr>
          <p:cNvPr id="25" name="Connector 17">
            <a:extLst>
              <a:ext uri="{FF2B5EF4-FFF2-40B4-BE49-F238E27FC236}">
                <a16:creationId xmlns:a16="http://schemas.microsoft.com/office/drawing/2014/main" id="{D3F54AC8-B29C-B6EF-7C01-5310D5741F1D}"/>
              </a:ext>
            </a:extLst>
          </p:cNvPr>
          <p:cNvCxnSpPr>
            <a:cxnSpLocks/>
          </p:cNvCxnSpPr>
          <p:nvPr/>
        </p:nvCxnSpPr>
        <p:spPr>
          <a:xfrm>
            <a:off x="5448991" y="2072773"/>
            <a:ext cx="460895" cy="0"/>
          </a:xfrm>
          <a:prstGeom prst="line">
            <a:avLst/>
          </a:prstGeom>
          <a:ln w="31750">
            <a:solidFill>
              <a:srgbClr val="FFAB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7375DA1E-EE55-834C-1FDF-88CBF2BC4F39}"/>
              </a:ext>
            </a:extLst>
          </p:cNvPr>
          <p:cNvSpPr/>
          <p:nvPr/>
        </p:nvSpPr>
        <p:spPr>
          <a:xfrm>
            <a:off x="5909886" y="1688449"/>
            <a:ext cx="2304473" cy="789298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B24DA6-41FC-3402-0D31-77FF7837760D}"/>
              </a:ext>
            </a:extLst>
          </p:cNvPr>
          <p:cNvSpPr txBox="1"/>
          <p:nvPr/>
        </p:nvSpPr>
        <p:spPr>
          <a:xfrm>
            <a:off x="6048154" y="1789969"/>
            <a:ext cx="2074026" cy="27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212121"/>
                </a:solidFill>
                <a:latin typeface="Arial"/>
              </a:rPr>
              <a:t>Relying Party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87DD6-0682-FACA-A21E-B08D97522AC8}"/>
              </a:ext>
            </a:extLst>
          </p:cNvPr>
          <p:cNvSpPr txBox="1"/>
          <p:nvPr/>
        </p:nvSpPr>
        <p:spPr>
          <a:xfrm>
            <a:off x="6048154" y="2101778"/>
            <a:ext cx="205866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95959"/>
                </a:solidFill>
                <a:latin typeface="Arial"/>
              </a:rPr>
              <a:t>Receives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presentation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and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verifies</a:t>
            </a:r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3B3578-CCAD-B973-328A-3A13BD311AA1}"/>
              </a:ext>
            </a:extLst>
          </p:cNvPr>
          <p:cNvSpPr txBox="1"/>
          <p:nvPr/>
        </p:nvSpPr>
        <p:spPr>
          <a:xfrm>
            <a:off x="644971" y="2544789"/>
            <a:ext cx="2723565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595959"/>
                </a:solidFill>
                <a:latin typeface="Arial"/>
              </a:rPr>
              <a:t>PROPOSED </a:t>
            </a:r>
            <a:r>
              <a:rPr lang="de-DE" sz="1200" b="1" dirty="0">
                <a:solidFill>
                  <a:srgbClr val="595959"/>
                </a:solidFill>
                <a:latin typeface="Arial"/>
              </a:rPr>
              <a:t>ECONOMY</a:t>
            </a:r>
            <a:r>
              <a:rPr sz="1200" b="1" dirty="0">
                <a:solidFill>
                  <a:srgbClr val="595959"/>
                </a:solidFill>
                <a:latin typeface="Arial"/>
              </a:rPr>
              <a:t> FLOW</a:t>
            </a:r>
          </a:p>
        </p:txBody>
      </p:sp>
      <p:sp>
        <p:nvSpPr>
          <p:cNvPr id="41" name="Rounded Rectangle 23">
            <a:extLst>
              <a:ext uri="{FF2B5EF4-FFF2-40B4-BE49-F238E27FC236}">
                <a16:creationId xmlns:a16="http://schemas.microsoft.com/office/drawing/2014/main" id="{8DC09EC7-C9A0-EE38-75A4-AF2B6C76E745}"/>
              </a:ext>
            </a:extLst>
          </p:cNvPr>
          <p:cNvSpPr/>
          <p:nvPr/>
        </p:nvSpPr>
        <p:spPr>
          <a:xfrm>
            <a:off x="3063239" y="2849515"/>
            <a:ext cx="2381289" cy="806512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61CB71-9B2C-55D6-4A52-B49D563533C1}"/>
              </a:ext>
            </a:extLst>
          </p:cNvPr>
          <p:cNvSpPr txBox="1"/>
          <p:nvPr/>
        </p:nvSpPr>
        <p:spPr>
          <a:xfrm>
            <a:off x="3190576" y="2934839"/>
            <a:ext cx="201120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212121"/>
                </a:solidFill>
                <a:latin typeface="Arial"/>
              </a:rPr>
              <a:t>SME Wallet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 Owner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836418-10E9-ACB5-ADDC-F7936FD88EF2}"/>
              </a:ext>
            </a:extLst>
          </p:cNvPr>
          <p:cNvSpPr txBox="1"/>
          <p:nvPr/>
        </p:nvSpPr>
        <p:spPr>
          <a:xfrm>
            <a:off x="3190576" y="3196902"/>
            <a:ext cx="199631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Natively signs / issues self-asserted EAA</a:t>
            </a:r>
          </a:p>
        </p:txBody>
      </p:sp>
      <p:cxnSp>
        <p:nvCxnSpPr>
          <p:cNvPr id="45" name="Connector 27">
            <a:extLst>
              <a:ext uri="{FF2B5EF4-FFF2-40B4-BE49-F238E27FC236}">
                <a16:creationId xmlns:a16="http://schemas.microsoft.com/office/drawing/2014/main" id="{5E6F682E-3E4D-3958-9B1A-1E8592AE6319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5444528" y="3252771"/>
            <a:ext cx="518707" cy="0"/>
          </a:xfrm>
          <a:prstGeom prst="line">
            <a:avLst/>
          </a:prstGeom>
          <a:ln w="381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28">
            <a:extLst>
              <a:ext uri="{FF2B5EF4-FFF2-40B4-BE49-F238E27FC236}">
                <a16:creationId xmlns:a16="http://schemas.microsoft.com/office/drawing/2014/main" id="{3844F893-541D-AF88-1A8D-4DF0742B5E2D}"/>
              </a:ext>
            </a:extLst>
          </p:cNvPr>
          <p:cNvSpPr/>
          <p:nvPr/>
        </p:nvSpPr>
        <p:spPr>
          <a:xfrm>
            <a:off x="5963235" y="2849515"/>
            <a:ext cx="2234676" cy="806512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7202CB-A664-BFF7-FCE0-4A2550D3BEA0}"/>
              </a:ext>
            </a:extLst>
          </p:cNvPr>
          <p:cNvSpPr txBox="1"/>
          <p:nvPr/>
        </p:nvSpPr>
        <p:spPr>
          <a:xfrm>
            <a:off x="6090570" y="2934839"/>
            <a:ext cx="201120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12121"/>
                </a:solidFill>
                <a:latin typeface="Arial"/>
              </a:rPr>
              <a:t>Relying Party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1DBFA4-2002-33F2-3B97-E5246705ECEE}"/>
              </a:ext>
            </a:extLst>
          </p:cNvPr>
          <p:cNvSpPr txBox="1"/>
          <p:nvPr/>
        </p:nvSpPr>
        <p:spPr>
          <a:xfrm>
            <a:off x="6090570" y="3196902"/>
            <a:ext cx="199631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200" dirty="0" err="1">
                <a:solidFill>
                  <a:srgbClr val="595959"/>
                </a:solidFill>
                <a:latin typeface="Arial"/>
              </a:rPr>
              <a:t>Receives</a:t>
            </a:r>
            <a:r>
              <a:rPr lang="de-DE" sz="120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dirty="0" err="1">
                <a:solidFill>
                  <a:srgbClr val="595959"/>
                </a:solidFill>
                <a:latin typeface="Arial"/>
              </a:rPr>
              <a:t>presentation</a:t>
            </a:r>
            <a:r>
              <a:rPr lang="de-DE" sz="1200" dirty="0">
                <a:solidFill>
                  <a:srgbClr val="595959"/>
                </a:solidFill>
                <a:latin typeface="Arial"/>
              </a:rPr>
              <a:t> and </a:t>
            </a:r>
            <a:r>
              <a:rPr lang="de-DE" sz="1200" dirty="0" err="1">
                <a:solidFill>
                  <a:srgbClr val="595959"/>
                </a:solidFill>
                <a:latin typeface="Arial"/>
              </a:rPr>
              <a:t>verifies</a:t>
            </a:r>
            <a:endParaRPr lang="de-DE" sz="120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50" name="Rounded Rectangle 32">
            <a:extLst>
              <a:ext uri="{FF2B5EF4-FFF2-40B4-BE49-F238E27FC236}">
                <a16:creationId xmlns:a16="http://schemas.microsoft.com/office/drawing/2014/main" id="{23540A5E-859A-AE67-E62A-FE2AA18DAC0B}"/>
              </a:ext>
            </a:extLst>
          </p:cNvPr>
          <p:cNvSpPr/>
          <p:nvPr/>
        </p:nvSpPr>
        <p:spPr>
          <a:xfrm>
            <a:off x="609600" y="3763695"/>
            <a:ext cx="7604760" cy="1271292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6ECF2D-7F49-944E-01E7-20E6A1D9E829}"/>
              </a:ext>
            </a:extLst>
          </p:cNvPr>
          <p:cNvSpPr txBox="1"/>
          <p:nvPr/>
        </p:nvSpPr>
        <p:spPr>
          <a:xfrm>
            <a:off x="742103" y="3768927"/>
            <a:ext cx="7392534" cy="231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212121"/>
                </a:solidFill>
                <a:latin typeface="Arial"/>
              </a:rPr>
              <a:t>ECONOMIC POINT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F40391-F18D-8FE3-F0B6-701DEE655978}"/>
              </a:ext>
            </a:extLst>
          </p:cNvPr>
          <p:cNvSpPr txBox="1"/>
          <p:nvPr/>
        </p:nvSpPr>
        <p:spPr>
          <a:xfrm>
            <a:off x="739166" y="3997089"/>
            <a:ext cx="7378386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A routine B2B credential can otherwise become a recurring external </a:t>
            </a:r>
            <a:r>
              <a:rPr lang="de-DE" sz="1300" b="0" dirty="0" err="1">
                <a:solidFill>
                  <a:srgbClr val="595959"/>
                </a:solidFill>
                <a:latin typeface="Arial"/>
              </a:rPr>
              <a:t>issuing</a:t>
            </a:r>
            <a:r>
              <a:rPr sz="1300" b="0" dirty="0">
                <a:solidFill>
                  <a:srgbClr val="595959"/>
                </a:solidFill>
                <a:latin typeface="Arial"/>
              </a:rPr>
              <a:t> charge — a permanent “pay-per-credential” model for SMEs.</a:t>
            </a:r>
            <a:br>
              <a:rPr lang="de-DE" sz="1300" b="0" dirty="0">
                <a:solidFill>
                  <a:srgbClr val="595959"/>
                </a:solidFill>
                <a:latin typeface="Arial"/>
              </a:rPr>
            </a:br>
            <a:endParaRPr lang="de-DE" sz="1300" dirty="0">
              <a:solidFill>
                <a:srgbClr val="595959"/>
              </a:solidFill>
              <a:latin typeface="Arial"/>
            </a:endParaRPr>
          </a:p>
          <a:p>
            <a:r>
              <a:rPr lang="en-US" sz="1300" dirty="0">
                <a:solidFill>
                  <a:srgbClr val="595959"/>
                </a:solidFill>
                <a:latin typeface="Arial"/>
              </a:rPr>
              <a:t>Market-driven wallet products can naturally differentiate between basic and premium offerings without restrictive regulatory prohibitions.</a:t>
            </a:r>
          </a:p>
          <a:p>
            <a:pPr algn="l"/>
            <a:endParaRPr sz="1300" b="0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120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A1A5F-B158-CBDD-9228-0B94756FC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1D1DA-BA6A-FA7B-BAAE-D5DC5AEEE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Self-Assertion Is Not a Trust Service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DC4968-25FC-66FE-C2DC-C35D61EAD9A2}"/>
              </a:ext>
            </a:extLst>
          </p:cNvPr>
          <p:cNvSpPr txBox="1"/>
          <p:nvPr/>
        </p:nvSpPr>
        <p:spPr>
          <a:xfrm>
            <a:off x="1143111" y="880425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Independent corporate signing of EAAs does not, by itself, turn every business into a TSP</a:t>
            </a:r>
            <a:r>
              <a:rPr sz="1350" b="0" dirty="0">
                <a:solidFill>
                  <a:srgbClr val="595959"/>
                </a:solidFill>
                <a:latin typeface="Arial"/>
              </a:rPr>
              <a:t>.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5582019-DF15-BCEF-A047-7CC5FEAA0786}"/>
              </a:ext>
            </a:extLst>
          </p:cNvPr>
          <p:cNvGrpSpPr/>
          <p:nvPr/>
        </p:nvGrpSpPr>
        <p:grpSpPr>
          <a:xfrm>
            <a:off x="777240" y="1417320"/>
            <a:ext cx="7818120" cy="3564052"/>
            <a:chOff x="777240" y="1417320"/>
            <a:chExt cx="9966960" cy="5563571"/>
          </a:xfrm>
        </p:grpSpPr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52229522-019D-35FF-7EF3-4778FD1B5213}"/>
                </a:ext>
              </a:extLst>
            </p:cNvPr>
            <p:cNvSpPr/>
            <p:nvPr/>
          </p:nvSpPr>
          <p:spPr>
            <a:xfrm>
              <a:off x="777240" y="1417320"/>
              <a:ext cx="4892040" cy="3347524"/>
            </a:xfrm>
            <a:prstGeom prst="roundRect">
              <a:avLst/>
            </a:prstGeom>
            <a:solidFill>
              <a:srgbClr val="FFF6E9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5E371D-5B0F-A641-CE88-E8486059C67F}"/>
                </a:ext>
              </a:extLst>
            </p:cNvPr>
            <p:cNvSpPr txBox="1"/>
            <p:nvPr/>
          </p:nvSpPr>
          <p:spPr>
            <a:xfrm>
              <a:off x="941832" y="1545336"/>
              <a:ext cx="4617720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900" b="1">
                  <a:solidFill>
                    <a:srgbClr val="212121"/>
                  </a:solidFill>
                  <a:latin typeface="Arial"/>
                </a:rPr>
                <a:t>TRUST SERVICE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BCDA41-191E-0F13-AFDB-B8299DAA4097}"/>
                </a:ext>
              </a:extLst>
            </p:cNvPr>
            <p:cNvSpPr txBox="1"/>
            <p:nvPr/>
          </p:nvSpPr>
          <p:spPr>
            <a:xfrm>
              <a:off x="941833" y="1938527"/>
              <a:ext cx="4599432" cy="321899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endParaRPr lang="en-US" sz="1600" dirty="0">
                <a:solidFill>
                  <a:schemeClr val="accent5"/>
                </a:solidFill>
              </a:endParaRPr>
            </a:p>
            <a:p>
              <a:r>
                <a:rPr lang="en-US" sz="1600" dirty="0">
                  <a:solidFill>
                    <a:schemeClr val="accent5"/>
                  </a:solidFill>
                </a:rPr>
                <a:t>An electronic service providing trust-related functions — such as issuing, validating or preserving electronic signatures, seals, certificates or electronic attestations — </a:t>
              </a:r>
              <a:r>
                <a:rPr lang="en-US" sz="1600" b="1" dirty="0">
                  <a:solidFill>
                    <a:schemeClr val="accent5"/>
                  </a:solidFill>
                </a:rPr>
                <a:t>as a service to others</a:t>
              </a:r>
              <a:endParaRPr lang="en-US" sz="1600" dirty="0">
                <a:solidFill>
                  <a:schemeClr val="accent5"/>
                </a:solidFill>
                <a:latin typeface="Arial"/>
              </a:endParaRPr>
            </a:p>
            <a:p>
              <a:pPr algn="l"/>
              <a:r>
                <a:rPr sz="1600" b="0" dirty="0">
                  <a:solidFill>
                    <a:srgbClr val="595959"/>
                  </a:solidFill>
                  <a:latin typeface="Arial"/>
                </a:rPr>
                <a:t>.</a:t>
              </a:r>
            </a:p>
          </p:txBody>
        </p:sp>
        <p:sp>
          <p:nvSpPr>
            <p:cNvPr id="20" name="Rounded Rectangle 11">
              <a:extLst>
                <a:ext uri="{FF2B5EF4-FFF2-40B4-BE49-F238E27FC236}">
                  <a16:creationId xmlns:a16="http://schemas.microsoft.com/office/drawing/2014/main" id="{A9F309D2-E07C-D98E-766C-8C356DAF8433}"/>
                </a:ext>
              </a:extLst>
            </p:cNvPr>
            <p:cNvSpPr/>
            <p:nvPr/>
          </p:nvSpPr>
          <p:spPr>
            <a:xfrm>
              <a:off x="5852160" y="1417320"/>
              <a:ext cx="4892040" cy="3347524"/>
            </a:xfrm>
            <a:prstGeom prst="roundRect">
              <a:avLst/>
            </a:prstGeom>
            <a:solidFill>
              <a:srgbClr val="E7F7F9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32C6499-0DA3-2383-8B1A-A5EF564C4AD4}"/>
                </a:ext>
              </a:extLst>
            </p:cNvPr>
            <p:cNvSpPr txBox="1"/>
            <p:nvPr/>
          </p:nvSpPr>
          <p:spPr>
            <a:xfrm>
              <a:off x="6016752" y="1545336"/>
              <a:ext cx="4617720" cy="34747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900" b="1">
                  <a:solidFill>
                    <a:srgbClr val="212121"/>
                  </a:solidFill>
                  <a:latin typeface="Arial"/>
                </a:rPr>
                <a:t>SELF-ASSERTION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18A8BA-512C-992B-CB45-83AF92FAF517}"/>
                </a:ext>
              </a:extLst>
            </p:cNvPr>
            <p:cNvSpPr txBox="1"/>
            <p:nvPr/>
          </p:nvSpPr>
          <p:spPr>
            <a:xfrm>
              <a:off x="6016751" y="1938527"/>
              <a:ext cx="4599432" cy="283463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endParaRPr lang="de-DE" sz="1600" dirty="0">
                <a:solidFill>
                  <a:schemeClr val="accent5"/>
                </a:solidFill>
              </a:endParaRPr>
            </a:p>
            <a:p>
              <a:r>
                <a:rPr lang="de-DE" sz="1600" dirty="0">
                  <a:solidFill>
                    <a:schemeClr val="accent5"/>
                  </a:solidFill>
                </a:rPr>
                <a:t>A </a:t>
              </a:r>
              <a:r>
                <a:rPr lang="de-DE" sz="1600" dirty="0" err="1">
                  <a:solidFill>
                    <a:schemeClr val="accent5"/>
                  </a:solidFill>
                </a:rPr>
                <a:t>business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uses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its</a:t>
              </a:r>
              <a:r>
                <a:rPr lang="de-DE" sz="1600" dirty="0">
                  <a:solidFill>
                    <a:schemeClr val="accent5"/>
                  </a:solidFill>
                </a:rPr>
                <a:t> own EBW to </a:t>
              </a:r>
              <a:r>
                <a:rPr lang="de-DE" sz="1600" dirty="0" err="1">
                  <a:solidFill>
                    <a:schemeClr val="accent5"/>
                  </a:solidFill>
                </a:rPr>
                <a:t>digitally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sign</a:t>
              </a:r>
              <a:r>
                <a:rPr lang="de-DE" sz="1600" dirty="0">
                  <a:solidFill>
                    <a:schemeClr val="accent5"/>
                  </a:solidFill>
                </a:rPr>
                <a:t> and </a:t>
              </a:r>
              <a:r>
                <a:rPr lang="de-DE" sz="1600" dirty="0" err="1">
                  <a:solidFill>
                    <a:schemeClr val="accent5"/>
                  </a:solidFill>
                </a:rPr>
                <a:t>present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its</a:t>
              </a:r>
              <a:r>
                <a:rPr lang="de-DE" sz="1600" b="1" dirty="0">
                  <a:solidFill>
                    <a:schemeClr val="accent5"/>
                  </a:solidFill>
                </a:rPr>
                <a:t> own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information</a:t>
              </a:r>
              <a:r>
                <a:rPr lang="de-DE" sz="1600" b="1" dirty="0">
                  <a:solidFill>
                    <a:schemeClr val="accent5"/>
                  </a:solidFill>
                </a:rPr>
                <a:t>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or</a:t>
              </a:r>
              <a:r>
                <a:rPr lang="de-DE" sz="1600" b="1" dirty="0">
                  <a:solidFill>
                    <a:schemeClr val="accent5"/>
                  </a:solidFill>
                </a:rPr>
                <a:t>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documents</a:t>
              </a:r>
              <a:r>
                <a:rPr lang="de-DE" sz="1600" dirty="0">
                  <a:solidFill>
                    <a:schemeClr val="accent5"/>
                  </a:solidFill>
                </a:rPr>
                <a:t> to </a:t>
              </a:r>
              <a:r>
                <a:rPr lang="de-DE" sz="1600" dirty="0" err="1">
                  <a:solidFill>
                    <a:schemeClr val="accent5"/>
                  </a:solidFill>
                </a:rPr>
                <a:t>another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party</a:t>
              </a:r>
              <a:r>
                <a:rPr lang="de-DE" sz="1600" dirty="0">
                  <a:solidFill>
                    <a:schemeClr val="accent5"/>
                  </a:solidFill>
                </a:rPr>
                <a:t>. </a:t>
              </a:r>
              <a:r>
                <a:rPr lang="de-DE" sz="1600" dirty="0" err="1">
                  <a:solidFill>
                    <a:schemeClr val="accent5"/>
                  </a:solidFill>
                </a:rPr>
                <a:t>It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is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acting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as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the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asserting</a:t>
              </a:r>
              <a:r>
                <a:rPr lang="de-DE" sz="1600" b="1" dirty="0">
                  <a:solidFill>
                    <a:schemeClr val="accent5"/>
                  </a:solidFill>
                </a:rPr>
                <a:t> </a:t>
              </a:r>
              <a:r>
                <a:rPr lang="de-DE" sz="1600" b="1" dirty="0" err="1">
                  <a:solidFill>
                    <a:schemeClr val="accent5"/>
                  </a:solidFill>
                </a:rPr>
                <a:t>party</a:t>
              </a:r>
              <a:r>
                <a:rPr lang="de-DE" sz="1600" dirty="0">
                  <a:solidFill>
                    <a:schemeClr val="accent5"/>
                  </a:solidFill>
                </a:rPr>
                <a:t>, not </a:t>
              </a:r>
              <a:r>
                <a:rPr lang="de-DE" sz="1600" dirty="0" err="1">
                  <a:solidFill>
                    <a:schemeClr val="accent5"/>
                  </a:solidFill>
                </a:rPr>
                <a:t>providing</a:t>
              </a:r>
              <a:r>
                <a:rPr lang="de-DE" sz="1600" dirty="0">
                  <a:solidFill>
                    <a:schemeClr val="accent5"/>
                  </a:solidFill>
                </a:rPr>
                <a:t> a </a:t>
              </a:r>
              <a:r>
                <a:rPr lang="de-DE" sz="1600" dirty="0" err="1">
                  <a:solidFill>
                    <a:schemeClr val="accent5"/>
                  </a:solidFill>
                </a:rPr>
                <a:t>trust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service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to</a:t>
              </a:r>
              <a:r>
                <a:rPr lang="de-DE" sz="1600" dirty="0">
                  <a:solidFill>
                    <a:schemeClr val="accent5"/>
                  </a:solidFill>
                </a:rPr>
                <a:t> </a:t>
              </a:r>
              <a:r>
                <a:rPr lang="de-DE" sz="1600" dirty="0" err="1">
                  <a:solidFill>
                    <a:schemeClr val="accent5"/>
                  </a:solidFill>
                </a:rPr>
                <a:t>others</a:t>
              </a:r>
              <a:r>
                <a:rPr lang="de-DE" sz="1600" dirty="0">
                  <a:solidFill>
                    <a:schemeClr val="accent5"/>
                  </a:solidFill>
                </a:rPr>
                <a:t>.</a:t>
              </a:r>
              <a:endParaRPr sz="1600" b="0" dirty="0">
                <a:solidFill>
                  <a:schemeClr val="accent5"/>
                </a:solidFill>
                <a:latin typeface="Arial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89CF829-53BD-2B13-AEA9-9D2BB9796C85}"/>
                </a:ext>
              </a:extLst>
            </p:cNvPr>
            <p:cNvSpPr txBox="1"/>
            <p:nvPr/>
          </p:nvSpPr>
          <p:spPr>
            <a:xfrm>
              <a:off x="1243671" y="5203239"/>
              <a:ext cx="9199382" cy="177765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Self-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issuing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 of EAAs 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does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 not turn 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every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 SME 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into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 a 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regulated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 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trust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 </a:t>
              </a:r>
              <a:r>
                <a:rPr lang="de-DE" sz="1700" b="1" dirty="0" err="1">
                  <a:solidFill>
                    <a:srgbClr val="212121"/>
                  </a:solidFill>
                  <a:latin typeface="Arial"/>
                </a:rPr>
                <a:t>provider</a:t>
              </a:r>
              <a:r>
                <a:rPr lang="de-DE" sz="1700" b="1" dirty="0">
                  <a:solidFill>
                    <a:srgbClr val="212121"/>
                  </a:solidFill>
                  <a:latin typeface="Arial"/>
                </a:rPr>
                <a:t>. </a:t>
              </a:r>
            </a:p>
            <a:p>
              <a:pPr algn="ctr"/>
              <a:r>
                <a:rPr lang="en-US" sz="1700" b="1" dirty="0">
                  <a:solidFill>
                    <a:srgbClr val="212121"/>
                  </a:solidFill>
                  <a:latin typeface="Arial"/>
                </a:rPr>
                <a:t>The level of liability remains on the transaction itself (contract law), not on </a:t>
              </a:r>
              <a:r>
                <a:rPr lang="en-US" sz="1700" b="1" dirty="0" err="1">
                  <a:solidFill>
                    <a:srgbClr val="212121"/>
                  </a:solidFill>
                  <a:latin typeface="Arial"/>
                </a:rPr>
                <a:t>eIDAS</a:t>
              </a:r>
              <a:r>
                <a:rPr lang="en-US" sz="1700" b="1" dirty="0">
                  <a:solidFill>
                    <a:srgbClr val="212121"/>
                  </a:solidFill>
                  <a:latin typeface="Arial"/>
                </a:rPr>
                <a:t> trust service liability.</a:t>
              </a:r>
              <a:endParaRPr lang="de-DE" sz="1700" b="1" dirty="0">
                <a:solidFill>
                  <a:srgbClr val="21212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9049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9E4C-0A96-6819-E0BA-81192BA8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Connector 23">
            <a:extLst>
              <a:ext uri="{FF2B5EF4-FFF2-40B4-BE49-F238E27FC236}">
                <a16:creationId xmlns:a16="http://schemas.microsoft.com/office/drawing/2014/main" id="{D6206E35-F52D-4793-8828-5AEBBDA3185E}"/>
              </a:ext>
            </a:extLst>
          </p:cNvPr>
          <p:cNvCxnSpPr/>
          <p:nvPr/>
        </p:nvCxnSpPr>
        <p:spPr>
          <a:xfrm>
            <a:off x="3301062" y="3740274"/>
            <a:ext cx="3692135" cy="0"/>
          </a:xfrm>
          <a:prstGeom prst="line">
            <a:avLst/>
          </a:prstGeom>
          <a:ln w="381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1644ED-8F0F-BEC2-1077-DA81E37D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Article 6(1)(a): Remove Uncertainty by Making the Provider Role Explicit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80BE1A-777C-9B68-DD87-EC1E81F02E6B}"/>
              </a:ext>
            </a:extLst>
          </p:cNvPr>
          <p:cNvSpPr txBox="1"/>
          <p:nvPr/>
        </p:nvSpPr>
        <p:spPr>
          <a:xfrm>
            <a:off x="1143111" y="880425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Technical protocols must support both sides of an EBW-to-EBW B2B transaction.</a:t>
            </a:r>
            <a:endParaRPr sz="135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2F342B0F-56F0-B5EB-C578-AA691948DC22}"/>
              </a:ext>
            </a:extLst>
          </p:cNvPr>
          <p:cNvSpPr/>
          <p:nvPr/>
        </p:nvSpPr>
        <p:spPr>
          <a:xfrm>
            <a:off x="685801" y="1353312"/>
            <a:ext cx="3859498" cy="2000731"/>
          </a:xfrm>
          <a:prstGeom prst="roundRect">
            <a:avLst/>
          </a:prstGeom>
          <a:solidFill>
            <a:srgbClr val="FFF6E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50B4F0-1865-AFCB-0C72-1624D2E94443}"/>
              </a:ext>
            </a:extLst>
          </p:cNvPr>
          <p:cNvSpPr txBox="1"/>
          <p:nvPr/>
        </p:nvSpPr>
        <p:spPr>
          <a:xfrm>
            <a:off x="813740" y="1424667"/>
            <a:ext cx="36508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2121"/>
                </a:solidFill>
                <a:latin typeface="Arial"/>
              </a:rPr>
              <a:t>CURRENT COUNCIL TEXT — Art. 6(1)(a) / (f)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00A4AC-AB12-CAAB-BAC0-326D190CACA5}"/>
              </a:ext>
            </a:extLst>
          </p:cNvPr>
          <p:cNvSpPr txBox="1"/>
          <p:nvPr/>
        </p:nvSpPr>
        <p:spPr>
          <a:xfrm>
            <a:off x="813740" y="1662514"/>
            <a:ext cx="3650876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595959"/>
                </a:solidFill>
                <a:latin typeface="Arial"/>
              </a:rPr>
              <a:t>Article 6(1) requires common protocols and interfaces:
</a:t>
            </a:r>
            <a:r>
              <a:rPr sz="1200" b="0" dirty="0">
                <a:solidFill>
                  <a:srgbClr val="595959"/>
                </a:solidFill>
                <a:latin typeface="Arial"/>
              </a:rPr>
              <a:t>
(a) “</a:t>
            </a:r>
            <a:r>
              <a:rPr sz="1200" b="1" dirty="0">
                <a:solidFill>
                  <a:srgbClr val="595959"/>
                </a:solidFill>
                <a:latin typeface="Arial"/>
              </a:rPr>
              <a:t>for the issuance of </a:t>
            </a:r>
            <a:r>
              <a:rPr sz="1200" b="0" dirty="0">
                <a:solidFill>
                  <a:srgbClr val="595959"/>
                </a:solidFill>
                <a:latin typeface="Arial"/>
              </a:rPr>
              <a:t>European Business Wallet owner identification data, </a:t>
            </a:r>
            <a:r>
              <a:rPr sz="1200" b="1" dirty="0">
                <a:solidFill>
                  <a:srgbClr val="595959"/>
                </a:solidFill>
                <a:latin typeface="Arial"/>
              </a:rPr>
              <a:t>qualified and non-qualified electronic attestations of attributes </a:t>
            </a:r>
            <a:r>
              <a:rPr sz="1200" b="0" dirty="0">
                <a:solidFill>
                  <a:srgbClr val="595959"/>
                </a:solidFill>
                <a:latin typeface="Arial"/>
              </a:rPr>
              <a:t>and qualified and non-qualified certificates to European Business Wallets”
</a:t>
            </a:r>
          </a:p>
        </p:txBody>
      </p:sp>
      <p:sp>
        <p:nvSpPr>
          <p:cNvPr id="31" name="Rounded Rectangle 9">
            <a:extLst>
              <a:ext uri="{FF2B5EF4-FFF2-40B4-BE49-F238E27FC236}">
                <a16:creationId xmlns:a16="http://schemas.microsoft.com/office/drawing/2014/main" id="{75905326-0AFC-614B-E529-C6447D8A4B26}"/>
              </a:ext>
            </a:extLst>
          </p:cNvPr>
          <p:cNvSpPr/>
          <p:nvPr/>
        </p:nvSpPr>
        <p:spPr>
          <a:xfrm>
            <a:off x="4808285" y="1353312"/>
            <a:ext cx="3859498" cy="2000731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9504B1-7304-2AD4-8E03-3EFB79A9DDCD}"/>
              </a:ext>
            </a:extLst>
          </p:cNvPr>
          <p:cNvSpPr txBox="1"/>
          <p:nvPr/>
        </p:nvSpPr>
        <p:spPr>
          <a:xfrm>
            <a:off x="4936224" y="1424667"/>
            <a:ext cx="36508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2121"/>
                </a:solidFill>
                <a:latin typeface="Arial"/>
              </a:rPr>
              <a:t>THE UNCERTAINTY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47A18E-CCCD-E0DC-91CE-64232466A3BB}"/>
              </a:ext>
            </a:extLst>
          </p:cNvPr>
          <p:cNvSpPr txBox="1"/>
          <p:nvPr/>
        </p:nvSpPr>
        <p:spPr>
          <a:xfrm>
            <a:off x="4936224" y="1662515"/>
            <a:ext cx="3650876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Issuance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can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be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interpreted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as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 „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to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issue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in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the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issuer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role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with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the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EBW“ and also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as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„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to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receive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issued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attestations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in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the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holder 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role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.“</a:t>
            </a:r>
            <a:r>
              <a:rPr sz="1200" b="0" dirty="0">
                <a:solidFill>
                  <a:srgbClr val="595959"/>
                </a:solidFill>
                <a:latin typeface="Arial"/>
              </a:rPr>
              <a:t>
→ Risk: different interpretations and fragmented implementations of the B2B issuing flow.</a:t>
            </a:r>
          </a:p>
        </p:txBody>
      </p:sp>
      <p:sp>
        <p:nvSpPr>
          <p:cNvPr id="51" name="Rounded Rectangle 25">
            <a:extLst>
              <a:ext uri="{FF2B5EF4-FFF2-40B4-BE49-F238E27FC236}">
                <a16:creationId xmlns:a16="http://schemas.microsoft.com/office/drawing/2014/main" id="{244368A3-B337-AA56-76CA-5AD978AB3CF6}"/>
              </a:ext>
            </a:extLst>
          </p:cNvPr>
          <p:cNvSpPr/>
          <p:nvPr/>
        </p:nvSpPr>
        <p:spPr>
          <a:xfrm>
            <a:off x="683207" y="4233665"/>
            <a:ext cx="7517267" cy="679655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8252A6-7987-062E-BF1B-AA5BA4636E2A}"/>
              </a:ext>
            </a:extLst>
          </p:cNvPr>
          <p:cNvSpPr txBox="1"/>
          <p:nvPr/>
        </p:nvSpPr>
        <p:spPr>
          <a:xfrm>
            <a:off x="811146" y="4305019"/>
            <a:ext cx="5682183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212121"/>
                </a:solidFill>
                <a:latin typeface="Arial"/>
              </a:rPr>
              <a:t>PROPOSED CLARIFICATION — Art. 6(1)(a)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755A9C-DFD5-43F2-A8A3-E5402B3B85FB}"/>
              </a:ext>
            </a:extLst>
          </p:cNvPr>
          <p:cNvSpPr txBox="1"/>
          <p:nvPr/>
        </p:nvSpPr>
        <p:spPr>
          <a:xfrm>
            <a:off x="732961" y="4560706"/>
            <a:ext cx="568218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595959"/>
                </a:solidFill>
                <a:latin typeface="Arial"/>
              </a:rPr>
              <a:t>“…for the issuing in the provider role and for receiving in the holder role of …”</a:t>
            </a:r>
          </a:p>
        </p:txBody>
      </p:sp>
      <p:sp>
        <p:nvSpPr>
          <p:cNvPr id="58" name="Rounded Rectangle 15">
            <a:extLst>
              <a:ext uri="{FF2B5EF4-FFF2-40B4-BE49-F238E27FC236}">
                <a16:creationId xmlns:a16="http://schemas.microsoft.com/office/drawing/2014/main" id="{0BDDBC5F-7BBA-4CB0-E6A5-CEB59B764B78}"/>
              </a:ext>
            </a:extLst>
          </p:cNvPr>
          <p:cNvSpPr/>
          <p:nvPr/>
        </p:nvSpPr>
        <p:spPr>
          <a:xfrm>
            <a:off x="685800" y="3407834"/>
            <a:ext cx="2576803" cy="679655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82C972-9F7C-F8EA-2969-931A1A397044}"/>
              </a:ext>
            </a:extLst>
          </p:cNvPr>
          <p:cNvSpPr txBox="1"/>
          <p:nvPr/>
        </p:nvSpPr>
        <p:spPr>
          <a:xfrm>
            <a:off x="824255" y="3496485"/>
            <a:ext cx="2346044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300" b="1" dirty="0">
                <a:solidFill>
                  <a:srgbClr val="212121"/>
                </a:solidFill>
                <a:latin typeface="Arial"/>
              </a:rPr>
              <a:t>EBW (</a:t>
            </a:r>
            <a:r>
              <a:rPr sz="1300" b="1" dirty="0">
                <a:solidFill>
                  <a:srgbClr val="212121"/>
                </a:solidFill>
                <a:latin typeface="Arial"/>
              </a:rPr>
              <a:t>PROVIDER ROLE</a:t>
            </a:r>
            <a:r>
              <a:rPr lang="de-DE" sz="1300" b="1" dirty="0">
                <a:solidFill>
                  <a:srgbClr val="212121"/>
                </a:solidFill>
                <a:latin typeface="Arial"/>
              </a:rPr>
              <a:t>)</a:t>
            </a:r>
            <a:endParaRPr sz="1300" b="1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FEB203-3966-A784-C7DB-FDEA2A5A903C}"/>
              </a:ext>
            </a:extLst>
          </p:cNvPr>
          <p:cNvSpPr txBox="1"/>
          <p:nvPr/>
        </p:nvSpPr>
        <p:spPr>
          <a:xfrm>
            <a:off x="828150" y="3683526"/>
            <a:ext cx="257680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200" b="0" dirty="0">
                <a:solidFill>
                  <a:srgbClr val="595959"/>
                </a:solidFill>
                <a:latin typeface="Arial"/>
              </a:rPr>
              <a:t>Supports </a:t>
            </a:r>
            <a:r>
              <a:rPr sz="1200" b="0" dirty="0" err="1">
                <a:solidFill>
                  <a:srgbClr val="595959"/>
                </a:solidFill>
                <a:latin typeface="Arial"/>
              </a:rPr>
              <a:t>Iss</a:t>
            </a:r>
            <a:r>
              <a:rPr lang="de-DE" sz="1200" b="0" dirty="0" err="1">
                <a:solidFill>
                  <a:srgbClr val="595959"/>
                </a:solidFill>
                <a:latin typeface="Arial"/>
              </a:rPr>
              <a:t>uing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sz="12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Protocol </a:t>
            </a:r>
            <a:br>
              <a:rPr lang="de-DE" sz="1200" b="0" dirty="0">
                <a:solidFill>
                  <a:srgbClr val="595959"/>
                </a:solidFill>
                <a:latin typeface="Arial"/>
              </a:rPr>
            </a:br>
            <a:r>
              <a:rPr sz="1200" b="0" dirty="0">
                <a:solidFill>
                  <a:srgbClr val="595959"/>
                </a:solidFill>
                <a:latin typeface="Arial"/>
              </a:rPr>
              <a:t>→ send EAA</a:t>
            </a:r>
          </a:p>
        </p:txBody>
      </p:sp>
      <p:sp>
        <p:nvSpPr>
          <p:cNvPr id="62" name="Rounded Rectangle 19">
            <a:extLst>
              <a:ext uri="{FF2B5EF4-FFF2-40B4-BE49-F238E27FC236}">
                <a16:creationId xmlns:a16="http://schemas.microsoft.com/office/drawing/2014/main" id="{FE98C551-FA49-A016-3F1D-D4BC1373F5A0}"/>
              </a:ext>
            </a:extLst>
          </p:cNvPr>
          <p:cNvSpPr/>
          <p:nvPr/>
        </p:nvSpPr>
        <p:spPr>
          <a:xfrm>
            <a:off x="5623671" y="3422609"/>
            <a:ext cx="2576803" cy="679655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5E4F6A-F3D9-C995-0604-0476C728808E}"/>
              </a:ext>
            </a:extLst>
          </p:cNvPr>
          <p:cNvSpPr txBox="1"/>
          <p:nvPr/>
        </p:nvSpPr>
        <p:spPr>
          <a:xfrm>
            <a:off x="5739049" y="3698912"/>
            <a:ext cx="234604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200" b="0" dirty="0">
                <a:solidFill>
                  <a:srgbClr val="595959"/>
                </a:solidFill>
                <a:latin typeface="Arial"/>
              </a:rPr>
              <a:t>Support </a:t>
            </a:r>
            <a:r>
              <a:rPr sz="1200" b="0" dirty="0">
                <a:solidFill>
                  <a:srgbClr val="595959"/>
                </a:solidFill>
                <a:latin typeface="Arial"/>
              </a:rPr>
              <a:t>Receive </a:t>
            </a:r>
            <a:r>
              <a:rPr lang="de-DE" sz="1200" b="0" dirty="0">
                <a:solidFill>
                  <a:srgbClr val="595959"/>
                </a:solidFill>
                <a:latin typeface="Arial"/>
              </a:rPr>
              <a:t>Protocol</a:t>
            </a:r>
            <a:br>
              <a:rPr lang="de-DE" sz="1200" b="0" dirty="0">
                <a:solidFill>
                  <a:srgbClr val="595959"/>
                </a:solidFill>
                <a:latin typeface="Arial"/>
              </a:rPr>
            </a:br>
            <a:r>
              <a:rPr sz="1200" b="0" dirty="0">
                <a:solidFill>
                  <a:srgbClr val="595959"/>
                </a:solidFill>
                <a:latin typeface="Arial"/>
              </a:rPr>
              <a:t>→ validate → use EAA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A0C07B-847F-5C55-39EE-118CF60A8B27}"/>
              </a:ext>
            </a:extLst>
          </p:cNvPr>
          <p:cNvSpPr txBox="1"/>
          <p:nvPr/>
        </p:nvSpPr>
        <p:spPr>
          <a:xfrm>
            <a:off x="3162247" y="3825230"/>
            <a:ext cx="2461424" cy="1846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C24646"/>
                </a:solidFill>
                <a:latin typeface="Arial"/>
              </a:rPr>
              <a:t>The missing explicit link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2A02EE-CB5F-F173-D42E-8B56FE5222B3}"/>
              </a:ext>
            </a:extLst>
          </p:cNvPr>
          <p:cNvSpPr txBox="1"/>
          <p:nvPr/>
        </p:nvSpPr>
        <p:spPr>
          <a:xfrm>
            <a:off x="5762126" y="3511260"/>
            <a:ext cx="2346044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300" b="1" dirty="0">
                <a:solidFill>
                  <a:srgbClr val="212121"/>
                </a:solidFill>
                <a:latin typeface="Arial"/>
              </a:rPr>
              <a:t>EBW (</a:t>
            </a:r>
            <a:r>
              <a:rPr sz="1300" b="1" dirty="0">
                <a:solidFill>
                  <a:srgbClr val="212121"/>
                </a:solidFill>
                <a:latin typeface="Arial"/>
              </a:rPr>
              <a:t>HOLDER ROLE</a:t>
            </a:r>
            <a:r>
              <a:rPr lang="de-DE" sz="1300" b="1" dirty="0">
                <a:solidFill>
                  <a:srgbClr val="212121"/>
                </a:solidFill>
                <a:latin typeface="Arial"/>
              </a:rPr>
              <a:t>)</a:t>
            </a:r>
            <a:endParaRPr sz="1300" b="1" dirty="0">
              <a:solidFill>
                <a:srgbClr val="21212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066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465-86AD-E909-2EF5-B698434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C8C4-29DB-A970-EB45-30442EA64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en-US" sz="2400" dirty="0">
                <a:solidFill>
                  <a:srgbClr val="212121"/>
                </a:solidFill>
                <a:latin typeface="Arial"/>
              </a:rPr>
              <a:t>The Principle of Equivalence: EAAs must be legally equivalent to paper 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8AC103-CD29-B67B-4E53-428B604EF70D}"/>
              </a:ext>
            </a:extLst>
          </p:cNvPr>
          <p:cNvSpPr txBox="1"/>
          <p:nvPr/>
        </p:nvSpPr>
        <p:spPr>
          <a:xfrm>
            <a:off x="1143111" y="880425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Ensuring legal equivalence between digital attestations and their paper counterparts..</a:t>
            </a:r>
            <a:endParaRPr sz="135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EAA8E6-F6CB-580D-C7DB-F376F5786D01}"/>
              </a:ext>
            </a:extLst>
          </p:cNvPr>
          <p:cNvSpPr txBox="1"/>
          <p:nvPr/>
        </p:nvSpPr>
        <p:spPr>
          <a:xfrm>
            <a:off x="903650" y="1353312"/>
            <a:ext cx="1377043" cy="2023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95959"/>
                </a:solidFill>
                <a:latin typeface="Arial"/>
              </a:rPr>
              <a:t>PAPER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27756B-A1F2-555D-4F00-7887534973CB}"/>
              </a:ext>
            </a:extLst>
          </p:cNvPr>
          <p:cNvSpPr txBox="1"/>
          <p:nvPr/>
        </p:nvSpPr>
        <p:spPr>
          <a:xfrm>
            <a:off x="6411822" y="1353312"/>
            <a:ext cx="1377043" cy="2023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595959"/>
                </a:solidFill>
                <a:latin typeface="Arial"/>
              </a:rPr>
              <a:t>DIGITAL EAA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DFEB0105-50C8-ABE6-67A1-1B1F6CEA3149}"/>
              </a:ext>
            </a:extLst>
          </p:cNvPr>
          <p:cNvSpPr/>
          <p:nvPr/>
        </p:nvSpPr>
        <p:spPr>
          <a:xfrm>
            <a:off x="731520" y="1670359"/>
            <a:ext cx="2607788" cy="2529627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DD817A-28E0-C4A6-75F3-8FF28053CDE9}"/>
              </a:ext>
            </a:extLst>
          </p:cNvPr>
          <p:cNvSpPr txBox="1"/>
          <p:nvPr/>
        </p:nvSpPr>
        <p:spPr>
          <a:xfrm>
            <a:off x="855453" y="1764797"/>
            <a:ext cx="2266269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12121"/>
                </a:solidFill>
                <a:latin typeface="Arial"/>
              </a:rPr>
              <a:t>STAMPED LETTER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F569C-8C62-4A61-DC28-0A702FF5350D}"/>
              </a:ext>
            </a:extLst>
          </p:cNvPr>
          <p:cNvSpPr txBox="1"/>
          <p:nvPr/>
        </p:nvSpPr>
        <p:spPr>
          <a:xfrm>
            <a:off x="855454" y="2054861"/>
            <a:ext cx="1845237" cy="170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595959"/>
                </a:solidFill>
                <a:latin typeface="Arial"/>
              </a:rPr>
              <a:t>Handwritten signature
Rubber stamp
Potentially easy to alter or forge
Accepted legal standing</a:t>
            </a:r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B3ACBA42-0C93-2207-3510-461F4652BC7B}"/>
              </a:ext>
            </a:extLst>
          </p:cNvPr>
          <p:cNvSpPr/>
          <p:nvPr/>
        </p:nvSpPr>
        <p:spPr>
          <a:xfrm>
            <a:off x="5413466" y="1697341"/>
            <a:ext cx="3319054" cy="2529627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D503D2-6F1A-B777-8E57-59D41A1D940C}"/>
              </a:ext>
            </a:extLst>
          </p:cNvPr>
          <p:cNvSpPr txBox="1"/>
          <p:nvPr/>
        </p:nvSpPr>
        <p:spPr>
          <a:xfrm>
            <a:off x="5537399" y="1791780"/>
            <a:ext cx="2987149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dirty="0">
                <a:solidFill>
                  <a:srgbClr val="212121"/>
                </a:solidFill>
                <a:latin typeface="Arial"/>
              </a:rPr>
              <a:t>CRYPTOGRAPHIC EAA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1FE61B-F8F1-19BB-8306-ABD3298C452D}"/>
              </a:ext>
            </a:extLst>
          </p:cNvPr>
          <p:cNvSpPr txBox="1"/>
          <p:nvPr/>
        </p:nvSpPr>
        <p:spPr>
          <a:xfrm>
            <a:off x="5537400" y="2081843"/>
            <a:ext cx="2965021" cy="1708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595959"/>
                </a:solidFill>
                <a:latin typeface="Arial"/>
              </a:rPr>
              <a:t>Digital signature
Tamper-evident
Holder binding
Automated issuer / timestamp / trust-chain verification</a:t>
            </a:r>
            <a:endParaRPr lang="de-DE" sz="1500" b="0" dirty="0">
              <a:solidFill>
                <a:srgbClr val="595959"/>
              </a:solidFill>
              <a:latin typeface="Arial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de-DE" sz="1500" dirty="0">
                <a:solidFill>
                  <a:srgbClr val="595959"/>
                </a:solidFill>
                <a:latin typeface="Arial"/>
              </a:rPr>
              <a:t>...</a:t>
            </a:r>
            <a:endParaRPr sz="15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A88FC0-5D4B-C1F3-D396-970C44E346AF}"/>
              </a:ext>
            </a:extLst>
          </p:cNvPr>
          <p:cNvSpPr txBox="1"/>
          <p:nvPr/>
        </p:nvSpPr>
        <p:spPr>
          <a:xfrm>
            <a:off x="3657736" y="2007642"/>
            <a:ext cx="1514747" cy="6745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4285F4"/>
                </a:solidFill>
                <a:latin typeface="Arial"/>
              </a:rPr>
              <a:t>≥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7F4467-0CA2-4FA6-AE17-DD9434752A12}"/>
              </a:ext>
            </a:extLst>
          </p:cNvPr>
          <p:cNvSpPr txBox="1"/>
          <p:nvPr/>
        </p:nvSpPr>
        <p:spPr>
          <a:xfrm>
            <a:off x="3416754" y="2749666"/>
            <a:ext cx="199671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500" b="1" dirty="0">
                <a:solidFill>
                  <a:srgbClr val="212121"/>
                </a:solidFill>
                <a:latin typeface="Arial"/>
              </a:rPr>
              <a:t>Why LEGAL
EQUIVALENCE of a letter should be higher?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B7520C-95E8-339A-6948-E9B44218EAB1}"/>
              </a:ext>
            </a:extLst>
          </p:cNvPr>
          <p:cNvSpPr txBox="1"/>
          <p:nvPr/>
        </p:nvSpPr>
        <p:spPr>
          <a:xfrm>
            <a:off x="2246267" y="4368628"/>
            <a:ext cx="4957354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212121"/>
                </a:solidFill>
                <a:latin typeface="Arial"/>
              </a:rPr>
              <a:t>A verified digital EAA should not be legally disadvantaged versus its paper counterpart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!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734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24F31-AC6B-43A4-2E96-FC0D73111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01FCF-9C2A-8CAA-D714-1C236E4EA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Scaling the Trust Ecosystem: Identity Attestation Chaining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674A87-B0AC-099A-C5C4-68B82CF3E60A}"/>
              </a:ext>
            </a:extLst>
          </p:cNvPr>
          <p:cNvSpPr txBox="1"/>
          <p:nvPr/>
        </p:nvSpPr>
        <p:spPr>
          <a:xfrm>
            <a:off x="1143111" y="880425"/>
            <a:ext cx="8961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Using Article 5(1)(g) to avoid a Trusted List bottleneck</a:t>
            </a:r>
            <a:endParaRPr sz="135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17" name="Rounded Rectangle 14">
            <a:extLst>
              <a:ext uri="{FF2B5EF4-FFF2-40B4-BE49-F238E27FC236}">
                <a16:creationId xmlns:a16="http://schemas.microsoft.com/office/drawing/2014/main" id="{19761FE7-F4CC-433D-446F-57A56F4709DE}"/>
              </a:ext>
            </a:extLst>
          </p:cNvPr>
          <p:cNvSpPr/>
          <p:nvPr/>
        </p:nvSpPr>
        <p:spPr>
          <a:xfrm>
            <a:off x="693323" y="1335277"/>
            <a:ext cx="3762930" cy="1906202"/>
          </a:xfrm>
          <a:prstGeom prst="roundRect">
            <a:avLst/>
          </a:prstGeom>
          <a:solidFill>
            <a:srgbClr val="FFF6E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13C10B-E740-AA8D-0F44-89F0E3AE7EE3}"/>
              </a:ext>
            </a:extLst>
          </p:cNvPr>
          <p:cNvSpPr txBox="1"/>
          <p:nvPr/>
        </p:nvSpPr>
        <p:spPr>
          <a:xfrm>
            <a:off x="857915" y="1463294"/>
            <a:ext cx="214884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500" b="1" dirty="0">
                <a:solidFill>
                  <a:srgbClr val="212121"/>
                </a:solidFill>
                <a:latin typeface="Arial"/>
              </a:rPr>
              <a:t>The Problem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6205F-1E66-476F-CC25-E76D73ED0EAC}"/>
              </a:ext>
            </a:extLst>
          </p:cNvPr>
          <p:cNvSpPr txBox="1"/>
          <p:nvPr/>
        </p:nvSpPr>
        <p:spPr>
          <a:xfrm>
            <a:off x="857915" y="1946486"/>
            <a:ext cx="3494165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595959"/>
                </a:solidFill>
                <a:latin typeface="Arial"/>
              </a:rPr>
              <a:t>EU Member States cannot register and maintain millions of businesses as EAA providers on national trust lists (</a:t>
            </a:r>
            <a:r>
              <a:rPr lang="en-US" sz="1200" b="0" dirty="0" err="1">
                <a:solidFill>
                  <a:srgbClr val="595959"/>
                </a:solidFill>
                <a:latin typeface="Arial"/>
              </a:rPr>
              <a:t>TLoLs</a:t>
            </a:r>
            <a:r>
              <a:rPr lang="en-US" sz="1200" b="0" dirty="0">
                <a:solidFill>
                  <a:srgbClr val="595959"/>
                </a:solidFill>
                <a:latin typeface="Arial"/>
              </a:rPr>
              <a:t>)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95959"/>
                </a:solidFill>
                <a:latin typeface="Arial"/>
              </a:rPr>
              <a:t>EAA provider need a attestation confirming the ownership of a signing key pair, issued by a QTSP</a:t>
            </a:r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26" name="Rounded Rectangle 19">
            <a:extLst>
              <a:ext uri="{FF2B5EF4-FFF2-40B4-BE49-F238E27FC236}">
                <a16:creationId xmlns:a16="http://schemas.microsoft.com/office/drawing/2014/main" id="{76E4F168-152C-35D7-6CCE-2A7D89C0AD11}"/>
              </a:ext>
            </a:extLst>
          </p:cNvPr>
          <p:cNvSpPr/>
          <p:nvPr/>
        </p:nvSpPr>
        <p:spPr>
          <a:xfrm>
            <a:off x="4670378" y="1335278"/>
            <a:ext cx="3466843" cy="1906202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883794-3662-0174-7BCC-9860F3BCAE6E}"/>
              </a:ext>
            </a:extLst>
          </p:cNvPr>
          <p:cNvSpPr txBox="1"/>
          <p:nvPr/>
        </p:nvSpPr>
        <p:spPr>
          <a:xfrm>
            <a:off x="4834970" y="1392488"/>
            <a:ext cx="3319456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500" b="1" dirty="0">
                <a:solidFill>
                  <a:srgbClr val="212121"/>
                </a:solidFill>
                <a:latin typeface="Arial"/>
              </a:rPr>
              <a:t>The Solution („Identity Attestation </a:t>
            </a:r>
            <a:r>
              <a:rPr lang="de-DE" sz="1500" b="1" dirty="0" err="1">
                <a:solidFill>
                  <a:srgbClr val="212121"/>
                </a:solidFill>
                <a:latin typeface="Arial"/>
              </a:rPr>
              <a:t>Chaining</a:t>
            </a:r>
            <a:r>
              <a:rPr lang="de-DE" sz="1500" b="1" dirty="0">
                <a:solidFill>
                  <a:srgbClr val="212121"/>
                </a:solidFill>
                <a:latin typeface="Arial"/>
              </a:rPr>
              <a:t>“)</a:t>
            </a:r>
            <a:endParaRPr sz="1500" b="1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B501A9-C39E-C660-D883-8E3BE8F45889}"/>
              </a:ext>
            </a:extLst>
          </p:cNvPr>
          <p:cNvSpPr txBox="1"/>
          <p:nvPr/>
        </p:nvSpPr>
        <p:spPr>
          <a:xfrm>
            <a:off x="4774551" y="1884172"/>
            <a:ext cx="3269853" cy="1384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595959"/>
                </a:solidFill>
                <a:latin typeface="Arial"/>
              </a:rPr>
              <a:t>Embed the issuer’s EBWOID (Wallet Owner ID, issued by a recognized QTSP) into the header of each issued EAA.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595959"/>
                </a:solidFill>
                <a:latin typeface="Arial"/>
              </a:rPr>
              <a:t>Creates a decentralized, self-contained verification chain.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595959"/>
                </a:solidFill>
                <a:latin typeface="Arial"/>
              </a:rPr>
              <a:t>Allready</a:t>
            </a:r>
            <a:r>
              <a:rPr lang="en-US" sz="1200" dirty="0">
                <a:solidFill>
                  <a:srgbClr val="595959"/>
                </a:solidFill>
                <a:latin typeface="Arial"/>
              </a:rPr>
              <a:t> anchored in Article 5/1/(g) of EBW regulation proposal</a:t>
            </a:r>
            <a:endParaRPr sz="12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31" name="Rounded Rectangle 23">
            <a:extLst>
              <a:ext uri="{FF2B5EF4-FFF2-40B4-BE49-F238E27FC236}">
                <a16:creationId xmlns:a16="http://schemas.microsoft.com/office/drawing/2014/main" id="{AD151C46-D12E-659A-51C6-D3D38CB0A4FD}"/>
              </a:ext>
            </a:extLst>
          </p:cNvPr>
          <p:cNvSpPr/>
          <p:nvPr/>
        </p:nvSpPr>
        <p:spPr>
          <a:xfrm>
            <a:off x="693322" y="3298689"/>
            <a:ext cx="7471218" cy="883361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8E0770-831A-EF0F-1DA9-72B036A75B27}"/>
              </a:ext>
            </a:extLst>
          </p:cNvPr>
          <p:cNvSpPr txBox="1"/>
          <p:nvPr/>
        </p:nvSpPr>
        <p:spPr>
          <a:xfrm>
            <a:off x="857914" y="3327070"/>
            <a:ext cx="4206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2121"/>
                </a:solidFill>
                <a:latin typeface="Arial"/>
              </a:rPr>
              <a:t>VERIFICATION PATH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904357-AB2F-7320-DC11-B889C8D638D9}"/>
              </a:ext>
            </a:extLst>
          </p:cNvPr>
          <p:cNvSpPr txBox="1"/>
          <p:nvPr/>
        </p:nvSpPr>
        <p:spPr>
          <a:xfrm>
            <a:off x="830594" y="3623332"/>
            <a:ext cx="7306627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95959"/>
                </a:solidFill>
                <a:latin typeface="Arial"/>
              </a:rPr>
              <a:t>1. Verify the EBWOID provider on the public Trusted List.
2. Cryptographically trace the chain to the </a:t>
            </a:r>
            <a:r>
              <a:rPr lang="de-DE" sz="1300" b="0" dirty="0">
                <a:solidFill>
                  <a:srgbClr val="595959"/>
                </a:solidFill>
                <a:latin typeface="Arial"/>
              </a:rPr>
              <a:t>EAA</a:t>
            </a:r>
            <a:r>
              <a:rPr sz="1300" b="0" dirty="0">
                <a:solidFill>
                  <a:srgbClr val="595959"/>
                </a:solidFill>
                <a:latin typeface="Arial"/>
              </a:rPr>
              <a:t> issuer.</a:t>
            </a:r>
          </a:p>
        </p:txBody>
      </p:sp>
      <p:sp>
        <p:nvSpPr>
          <p:cNvPr id="36" name="Rounded Rectangle 27">
            <a:extLst>
              <a:ext uri="{FF2B5EF4-FFF2-40B4-BE49-F238E27FC236}">
                <a16:creationId xmlns:a16="http://schemas.microsoft.com/office/drawing/2014/main" id="{E4E2A3A5-DA9E-80D7-C62D-B0EADB014558}"/>
              </a:ext>
            </a:extLst>
          </p:cNvPr>
          <p:cNvSpPr/>
          <p:nvPr/>
        </p:nvSpPr>
        <p:spPr>
          <a:xfrm>
            <a:off x="693322" y="4251292"/>
            <a:ext cx="7471217" cy="742603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091DF5-D7C5-10E7-BFA7-48C9FE001D94}"/>
              </a:ext>
            </a:extLst>
          </p:cNvPr>
          <p:cNvSpPr txBox="1"/>
          <p:nvPr/>
        </p:nvSpPr>
        <p:spPr>
          <a:xfrm>
            <a:off x="842911" y="4239259"/>
            <a:ext cx="6901016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212121"/>
                </a:solidFill>
                <a:latin typeface="Arial"/>
              </a:rPr>
              <a:t>SCALING RESULT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9B4BD49-B0C4-C153-CD69-7A2E65BFBFD1}"/>
              </a:ext>
            </a:extLst>
          </p:cNvPr>
          <p:cNvSpPr txBox="1"/>
          <p:nvPr/>
        </p:nvSpPr>
        <p:spPr>
          <a:xfrm>
            <a:off x="798337" y="4504611"/>
            <a:ext cx="6871011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 dirty="0">
                <a:solidFill>
                  <a:srgbClr val="595959"/>
                </a:solidFill>
                <a:latin typeface="Arial"/>
              </a:rPr>
              <a:t>A scalable and secure B2B ecosystem with </a:t>
            </a:r>
            <a:r>
              <a:rPr lang="en-US" sz="1300" b="1" dirty="0">
                <a:solidFill>
                  <a:srgbClr val="595959"/>
                </a:solidFill>
                <a:latin typeface="Arial"/>
              </a:rPr>
              <a:t>no administrative overhead for Member States</a:t>
            </a:r>
            <a:r>
              <a:rPr lang="en-US" sz="1300" dirty="0">
                <a:solidFill>
                  <a:srgbClr val="595959"/>
                </a:solidFill>
                <a:latin typeface="Arial"/>
              </a:rPr>
              <a:t> and no additional technical trust infrastructure for the </a:t>
            </a:r>
            <a:endParaRPr sz="1300" b="0" dirty="0">
              <a:solidFill>
                <a:srgbClr val="595959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11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1922E-73F5-AE29-CDCE-7B321224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543F3-662C-BAE0-10A9-593D7B4F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en-US" sz="2800" dirty="0">
                <a:solidFill>
                  <a:srgbClr val="212121"/>
                </a:solidFill>
                <a:latin typeface="Arial"/>
              </a:rPr>
              <a:t>Restoring Legal Support for AI-Driven Agents &amp; Smart Objects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AB20B4-1C39-4993-F10D-82E3040B9F27}"/>
              </a:ext>
            </a:extLst>
          </p:cNvPr>
          <p:cNvSpPr txBox="1"/>
          <p:nvPr/>
        </p:nvSpPr>
        <p:spPr>
          <a:xfrm>
            <a:off x="1143111" y="880425"/>
            <a:ext cx="800088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rgbClr val="595959"/>
                </a:solidFill>
                <a:latin typeface="Arial"/>
              </a:rPr>
              <a:t>Reinstating EP Amendment 19a it is essential for automated transactions in the machine economy.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5F77F786-202E-CEF4-2073-AB6998DE83D4}"/>
              </a:ext>
            </a:extLst>
          </p:cNvPr>
          <p:cNvSpPr/>
          <p:nvPr/>
        </p:nvSpPr>
        <p:spPr>
          <a:xfrm>
            <a:off x="705460" y="1298448"/>
            <a:ext cx="7700143" cy="684472"/>
          </a:xfrm>
          <a:prstGeom prst="roundRect">
            <a:avLst/>
          </a:prstGeom>
          <a:solidFill>
            <a:srgbClr val="FFF6E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9DC6B-1957-E064-5EE5-B99F6C6CCFCE}"/>
              </a:ext>
            </a:extLst>
          </p:cNvPr>
          <p:cNvSpPr txBox="1"/>
          <p:nvPr/>
        </p:nvSpPr>
        <p:spPr>
          <a:xfrm>
            <a:off x="774270" y="1270009"/>
            <a:ext cx="750354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2121"/>
                </a:solidFill>
                <a:latin typeface="Arial"/>
              </a:rPr>
              <a:t>THE GAP CREATED BY REMOVING EP AMENDMENT 19a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E69E2-507B-0A06-A0B2-9C2E9B8C7592}"/>
              </a:ext>
            </a:extLst>
          </p:cNvPr>
          <p:cNvSpPr txBox="1"/>
          <p:nvPr/>
        </p:nvSpPr>
        <p:spPr>
          <a:xfrm>
            <a:off x="812270" y="1548892"/>
            <a:ext cx="7490437" cy="44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  <a:latin typeface="Arial"/>
              </a:rPr>
              <a:t>Without a clear legal framework for automated, machine-driven transactions, authorized digital and AI-driven agents operate in a legal gray zone — limiting the EBW's value in software- and data-driven B2B</a:t>
            </a:r>
            <a:r>
              <a:rPr lang="de-DE" sz="1100" b="0" dirty="0">
                <a:solidFill>
                  <a:srgbClr val="595959"/>
                </a:solidFill>
                <a:latin typeface="Arial"/>
              </a:rPr>
              <a:t> </a:t>
            </a:r>
            <a:r>
              <a:rPr lang="de-DE" sz="1100" b="0" dirty="0" err="1">
                <a:solidFill>
                  <a:srgbClr val="595959"/>
                </a:solidFill>
                <a:latin typeface="Arial"/>
              </a:rPr>
              <a:t>ecosystems</a:t>
            </a:r>
            <a:r>
              <a:rPr sz="1100" b="0" dirty="0">
                <a:solidFill>
                  <a:srgbClr val="595959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61A05FE2-6B76-33DB-1122-C3CC2616330F}"/>
              </a:ext>
            </a:extLst>
          </p:cNvPr>
          <p:cNvSpPr/>
          <p:nvPr/>
        </p:nvSpPr>
        <p:spPr>
          <a:xfrm>
            <a:off x="705460" y="2154037"/>
            <a:ext cx="2437833" cy="1576729"/>
          </a:xfrm>
          <a:prstGeom prst="roundRect">
            <a:avLst/>
          </a:prstGeom>
          <a:solidFill>
            <a:srgbClr val="EBF3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1AF4F-AE75-191B-B22F-C5235AB45A69}"/>
              </a:ext>
            </a:extLst>
          </p:cNvPr>
          <p:cNvSpPr txBox="1"/>
          <p:nvPr/>
        </p:nvSpPr>
        <p:spPr>
          <a:xfrm>
            <a:off x="823420" y="2233485"/>
            <a:ext cx="224123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2121"/>
                </a:solidFill>
                <a:latin typeface="Arial"/>
              </a:rPr>
              <a:t>AI-DRIVEN PROCUREMENT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3835D2-0BA4-AE60-66FB-8B31FAA420DD}"/>
              </a:ext>
            </a:extLst>
          </p:cNvPr>
          <p:cNvSpPr txBox="1"/>
          <p:nvPr/>
        </p:nvSpPr>
        <p:spPr>
          <a:xfrm>
            <a:off x="810312" y="2520719"/>
            <a:ext cx="2228127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Arial"/>
              </a:rPr>
              <a:t>Autonomous agents may execute purchase orders, clear customs requirements </a:t>
            </a:r>
            <a:r>
              <a:rPr lang="de-DE" sz="1000" b="0" dirty="0" err="1">
                <a:solidFill>
                  <a:srgbClr val="595959"/>
                </a:solidFill>
                <a:latin typeface="Arial"/>
              </a:rPr>
              <a:t>or</a:t>
            </a:r>
            <a:r>
              <a:rPr lang="de-DE" sz="1000" b="0" dirty="0">
                <a:solidFill>
                  <a:srgbClr val="595959"/>
                </a:solidFill>
                <a:latin typeface="Arial"/>
              </a:rPr>
              <a:t> ...</a:t>
            </a:r>
            <a:r>
              <a:rPr sz="1000" b="0" dirty="0">
                <a:solidFill>
                  <a:srgbClr val="595959"/>
                </a:solidFill>
                <a:latin typeface="Arial"/>
              </a:rPr>
              <a:t>.
Without explicit legal recognition, businesses face substantial compliance and liability uncertainty.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0442417F-7F90-3522-B87D-5FF7373485B7}"/>
              </a:ext>
            </a:extLst>
          </p:cNvPr>
          <p:cNvSpPr/>
          <p:nvPr/>
        </p:nvSpPr>
        <p:spPr>
          <a:xfrm>
            <a:off x="3339892" y="2154037"/>
            <a:ext cx="2437833" cy="1576729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794CF-71E4-EFF0-3711-45DD5D8BF692}"/>
              </a:ext>
            </a:extLst>
          </p:cNvPr>
          <p:cNvSpPr txBox="1"/>
          <p:nvPr/>
        </p:nvSpPr>
        <p:spPr>
          <a:xfrm>
            <a:off x="3457852" y="2233485"/>
            <a:ext cx="251647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2121"/>
                </a:solidFill>
                <a:latin typeface="Arial"/>
              </a:rPr>
              <a:t>DIGITAL PROD</a:t>
            </a:r>
            <a:r>
              <a:rPr lang="de-DE" sz="1200" b="1" dirty="0">
                <a:solidFill>
                  <a:srgbClr val="212121"/>
                </a:solidFill>
                <a:latin typeface="Arial"/>
              </a:rPr>
              <a:t>.</a:t>
            </a:r>
            <a:r>
              <a:rPr sz="1200" b="1" dirty="0">
                <a:solidFill>
                  <a:srgbClr val="212121"/>
                </a:solidFill>
                <a:latin typeface="Arial"/>
              </a:rPr>
              <a:t> PASSPORTS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9D0FF-B402-9A9F-0489-04D784570D4D}"/>
              </a:ext>
            </a:extLst>
          </p:cNvPr>
          <p:cNvSpPr txBox="1"/>
          <p:nvPr/>
        </p:nvSpPr>
        <p:spPr>
          <a:xfrm>
            <a:off x="3457852" y="2520719"/>
            <a:ext cx="2228127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Arial"/>
              </a:rPr>
              <a:t>Batteries, machinery or vehicles need to autonomously present verified lifecycle data to regulators and supply-chain partners.
A missing framework restricts machine-to-machine use of trusted data.</a:t>
            </a:r>
          </a:p>
        </p:txBody>
      </p:sp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07D48F1F-A088-3A5D-1574-B019768FAA81}"/>
              </a:ext>
            </a:extLst>
          </p:cNvPr>
          <p:cNvSpPr/>
          <p:nvPr/>
        </p:nvSpPr>
        <p:spPr>
          <a:xfrm>
            <a:off x="5974324" y="2154037"/>
            <a:ext cx="2437833" cy="1576729"/>
          </a:xfrm>
          <a:prstGeom prst="roundRect">
            <a:avLst/>
          </a:prstGeom>
          <a:solidFill>
            <a:srgbClr val="FFFFFF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EC78E-051D-322D-2333-BC2C15A68826}"/>
              </a:ext>
            </a:extLst>
          </p:cNvPr>
          <p:cNvSpPr txBox="1"/>
          <p:nvPr/>
        </p:nvSpPr>
        <p:spPr>
          <a:xfrm>
            <a:off x="6000707" y="2223728"/>
            <a:ext cx="243783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212121"/>
                </a:solidFill>
                <a:latin typeface="Arial"/>
              </a:rPr>
              <a:t>SMART ASSET WALLETS / IoT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04714A-9E8A-3E5F-9E7F-364664627780}"/>
              </a:ext>
            </a:extLst>
          </p:cNvPr>
          <p:cNvSpPr txBox="1"/>
          <p:nvPr/>
        </p:nvSpPr>
        <p:spPr>
          <a:xfrm>
            <a:off x="6092284" y="2520719"/>
            <a:ext cx="2228127" cy="11926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595959"/>
                </a:solidFill>
                <a:latin typeface="Arial"/>
              </a:rPr>
              <a:t>Connected assets — such as fleet vehicles or manufacturing machines — may need to negotiate or execute legally binding transactions autonomously.
Legal uncertainty blocks scalable industrial automation</a:t>
            </a:r>
            <a:r>
              <a:rPr sz="1150" b="0" dirty="0">
                <a:solidFill>
                  <a:srgbClr val="595959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21">
            <a:extLst>
              <a:ext uri="{FF2B5EF4-FFF2-40B4-BE49-F238E27FC236}">
                <a16:creationId xmlns:a16="http://schemas.microsoft.com/office/drawing/2014/main" id="{93007A41-BAEF-8460-CFF6-ABED0F76CA9A}"/>
              </a:ext>
            </a:extLst>
          </p:cNvPr>
          <p:cNvSpPr/>
          <p:nvPr/>
        </p:nvSpPr>
        <p:spPr>
          <a:xfrm>
            <a:off x="731673" y="3895773"/>
            <a:ext cx="1656611" cy="551047"/>
          </a:xfrm>
          <a:prstGeom prst="round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DF7E8A-4C46-A86D-E6CA-877663396410}"/>
              </a:ext>
            </a:extLst>
          </p:cNvPr>
          <p:cNvSpPr txBox="1"/>
          <p:nvPr/>
        </p:nvSpPr>
        <p:spPr>
          <a:xfrm>
            <a:off x="754609" y="4045114"/>
            <a:ext cx="1540029" cy="1772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4285F4"/>
                </a:solidFill>
                <a:latin typeface="Arial"/>
              </a:rPr>
              <a:t>PROPOSED LEGAL CONCEPT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53360F-3565-273D-7B34-CB4695513346}"/>
              </a:ext>
            </a:extLst>
          </p:cNvPr>
          <p:cNvSpPr txBox="1"/>
          <p:nvPr/>
        </p:nvSpPr>
        <p:spPr>
          <a:xfrm>
            <a:off x="2389661" y="3914107"/>
            <a:ext cx="950230" cy="213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12121"/>
                </a:solidFill>
                <a:latin typeface="Arial"/>
              </a:rPr>
              <a:t>EBW Owner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E92EB3-D094-CD5C-10BC-2B7D9E06AF8F}"/>
              </a:ext>
            </a:extLst>
          </p:cNvPr>
          <p:cNvSpPr txBox="1"/>
          <p:nvPr/>
        </p:nvSpPr>
        <p:spPr>
          <a:xfrm>
            <a:off x="3372659" y="3914107"/>
            <a:ext cx="2260893" cy="213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0097A7"/>
                </a:solidFill>
                <a:latin typeface="Arial"/>
              </a:rPr>
              <a:t>valid • auditable • revocable delegation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154133-1E05-2553-9395-0B86102C9970}"/>
              </a:ext>
            </a:extLst>
          </p:cNvPr>
          <p:cNvSpPr txBox="1"/>
          <p:nvPr/>
        </p:nvSpPr>
        <p:spPr>
          <a:xfrm>
            <a:off x="5666318" y="3914107"/>
            <a:ext cx="1671095" cy="2138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dirty="0">
                <a:solidFill>
                  <a:srgbClr val="212121"/>
                </a:solidFill>
                <a:latin typeface="Arial"/>
              </a:rPr>
              <a:t>Authorized AI / Digital Agent</a:t>
            </a:r>
          </a:p>
        </p:txBody>
      </p:sp>
      <p:cxnSp>
        <p:nvCxnSpPr>
          <p:cNvPr id="28" name="Connector 26">
            <a:extLst>
              <a:ext uri="{FF2B5EF4-FFF2-40B4-BE49-F238E27FC236}">
                <a16:creationId xmlns:a16="http://schemas.microsoft.com/office/drawing/2014/main" id="{00C32435-1358-3045-AFA3-2E6BFE37FF86}"/>
              </a:ext>
            </a:extLst>
          </p:cNvPr>
          <p:cNvCxnSpPr/>
          <p:nvPr/>
        </p:nvCxnSpPr>
        <p:spPr>
          <a:xfrm>
            <a:off x="3371281" y="4128004"/>
            <a:ext cx="2293660" cy="0"/>
          </a:xfrm>
          <a:prstGeom prst="line">
            <a:avLst/>
          </a:prstGeom>
          <a:ln w="381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27">
            <a:extLst>
              <a:ext uri="{FF2B5EF4-FFF2-40B4-BE49-F238E27FC236}">
                <a16:creationId xmlns:a16="http://schemas.microsoft.com/office/drawing/2014/main" id="{9F83A6B0-88FB-6375-E5AC-7EA66569BA41}"/>
              </a:ext>
            </a:extLst>
          </p:cNvPr>
          <p:cNvSpPr/>
          <p:nvPr/>
        </p:nvSpPr>
        <p:spPr>
          <a:xfrm>
            <a:off x="705460" y="4489585"/>
            <a:ext cx="7634610" cy="409461"/>
          </a:xfrm>
          <a:prstGeom prst="roundRect">
            <a:avLst/>
          </a:prstGeom>
          <a:solidFill>
            <a:srgbClr val="E7F7F9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C8A273-9F44-98E7-665A-EA128D976BB3}"/>
              </a:ext>
            </a:extLst>
          </p:cNvPr>
          <p:cNvSpPr txBox="1"/>
          <p:nvPr/>
        </p:nvSpPr>
        <p:spPr>
          <a:xfrm>
            <a:off x="790653" y="4464802"/>
            <a:ext cx="7438011" cy="2322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12121"/>
                </a:solidFill>
                <a:latin typeface="Arial"/>
              </a:rPr>
              <a:t>CALL TO 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2B4DBF-4B0A-38A8-FB1F-8203C1344D9F}"/>
              </a:ext>
            </a:extLst>
          </p:cNvPr>
          <p:cNvSpPr txBox="1"/>
          <p:nvPr/>
        </p:nvSpPr>
        <p:spPr>
          <a:xfrm>
            <a:off x="781929" y="4637091"/>
            <a:ext cx="7424904" cy="2600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90" b="0" dirty="0">
                <a:solidFill>
                  <a:srgbClr val="595959"/>
                </a:solidFill>
                <a:latin typeface="Arial"/>
              </a:rPr>
              <a:t>Support the European Parliament position and reinstate Amendment 19a</a:t>
            </a:r>
            <a:r>
              <a:rPr lang="de-DE" sz="1090" b="0" dirty="0">
                <a:solidFill>
                  <a:srgbClr val="595959"/>
                </a:solidFill>
                <a:latin typeface="Arial"/>
              </a:rPr>
              <a:t>.</a:t>
            </a:r>
            <a:endParaRPr sz="109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5F979A-7E02-582D-5BB6-62987837D093}"/>
              </a:ext>
            </a:extLst>
          </p:cNvPr>
          <p:cNvSpPr txBox="1"/>
          <p:nvPr/>
        </p:nvSpPr>
        <p:spPr>
          <a:xfrm>
            <a:off x="8097598" y="5021273"/>
            <a:ext cx="360432" cy="1222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1758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71E25-2B12-4E08-9702-531C3158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8DED-A321-AB0B-1342-E6334F4A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11" y="569176"/>
            <a:ext cx="6750000" cy="383130"/>
          </a:xfrm>
        </p:spPr>
        <p:txBody>
          <a:bodyPr/>
          <a:lstStyle/>
          <a:p>
            <a:r>
              <a:rPr lang="de-DE" sz="2800" dirty="0" err="1">
                <a:solidFill>
                  <a:srgbClr val="212121"/>
                </a:solidFill>
                <a:latin typeface="Arial"/>
              </a:rPr>
              <a:t>Discussion</a:t>
            </a:r>
            <a:r>
              <a:rPr lang="de-DE" sz="2800" dirty="0">
                <a:solidFill>
                  <a:srgbClr val="212121"/>
                </a:solidFill>
                <a:latin typeface="Arial"/>
              </a:rPr>
              <a:t> &amp; Alignment</a:t>
            </a:r>
            <a:br>
              <a:rPr lang="en-US" sz="3600" dirty="0">
                <a:solidFill>
                  <a:srgbClr val="212121"/>
                </a:solidFill>
                <a:latin typeface="Arial"/>
              </a:rPr>
            </a:br>
            <a:endParaRPr lang="de-DE" dirty="0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FEF66C4E-58E2-DB30-8F55-D6F72FA801BA}"/>
              </a:ext>
            </a:extLst>
          </p:cNvPr>
          <p:cNvGrpSpPr/>
          <p:nvPr/>
        </p:nvGrpSpPr>
        <p:grpSpPr>
          <a:xfrm>
            <a:off x="685800" y="1316736"/>
            <a:ext cx="7821592" cy="3566023"/>
            <a:chOff x="685800" y="1316736"/>
            <a:chExt cx="11015023" cy="5559551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BFBF234-2F1E-C537-78A1-ECFEF48C80BE}"/>
                </a:ext>
              </a:extLst>
            </p:cNvPr>
            <p:cNvSpPr txBox="1"/>
            <p:nvPr/>
          </p:nvSpPr>
          <p:spPr>
            <a:xfrm>
              <a:off x="685800" y="6446520"/>
              <a:ext cx="475488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850" b="0">
                  <a:solidFill>
                    <a:srgbClr val="595959"/>
                  </a:solidFill>
                  <a:latin typeface="Arial"/>
                </a:rPr>
                <a:t>WE BUILD  •  European Business Wallet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8275C33-5839-D124-9121-3B34AD40D107}"/>
                </a:ext>
              </a:extLst>
            </p:cNvPr>
            <p:cNvSpPr txBox="1"/>
            <p:nvPr/>
          </p:nvSpPr>
          <p:spPr>
            <a:xfrm>
              <a:off x="11064240" y="6446520"/>
              <a:ext cx="502920" cy="1828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r"/>
              <a:r>
                <a:rPr sz="850" b="0">
                  <a:solidFill>
                    <a:srgbClr val="595959"/>
                  </a:solidFill>
                  <a:latin typeface="Arial"/>
                </a:rPr>
                <a:t>11</a:t>
              </a:r>
            </a:p>
          </p:txBody>
        </p:sp>
        <p:sp>
          <p:nvSpPr>
            <p:cNvPr id="107" name="Rounded Rectangle 7">
              <a:extLst>
                <a:ext uri="{FF2B5EF4-FFF2-40B4-BE49-F238E27FC236}">
                  <a16:creationId xmlns:a16="http://schemas.microsoft.com/office/drawing/2014/main" id="{E55F578C-3DA1-9D6D-1D40-24A5A6A2966A}"/>
                </a:ext>
              </a:extLst>
            </p:cNvPr>
            <p:cNvSpPr/>
            <p:nvPr/>
          </p:nvSpPr>
          <p:spPr>
            <a:xfrm>
              <a:off x="822960" y="1325880"/>
              <a:ext cx="502920" cy="347472"/>
            </a:xfrm>
            <a:prstGeom prst="roundRect">
              <a:avLst/>
            </a:prstGeom>
            <a:solidFill>
              <a:srgbClr val="EBF3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A660588-C0DB-D930-04BF-1EE99449BFBC}"/>
                </a:ext>
              </a:extLst>
            </p:cNvPr>
            <p:cNvSpPr txBox="1"/>
            <p:nvPr/>
          </p:nvSpPr>
          <p:spPr>
            <a:xfrm>
              <a:off x="822960" y="1353312"/>
              <a:ext cx="502920" cy="2560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4285F4"/>
                  </a:solidFill>
                  <a:latin typeface="Arial"/>
                </a:rPr>
                <a:t>1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B72194A-6A30-503E-A123-D813429BD123}"/>
                </a:ext>
              </a:extLst>
            </p:cNvPr>
            <p:cNvSpPr txBox="1"/>
            <p:nvPr/>
          </p:nvSpPr>
          <p:spPr>
            <a:xfrm>
              <a:off x="1508760" y="1344168"/>
              <a:ext cx="155448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1">
                  <a:solidFill>
                    <a:srgbClr val="0097A7"/>
                  </a:solidFill>
                  <a:latin typeface="Arial"/>
                </a:rPr>
                <a:t>LEGAL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5162DB3F-99AA-54F1-D84D-077F788E0731}"/>
                </a:ext>
              </a:extLst>
            </p:cNvPr>
            <p:cNvSpPr txBox="1"/>
            <p:nvPr/>
          </p:nvSpPr>
          <p:spPr>
            <a:xfrm>
              <a:off x="2971800" y="1316736"/>
              <a:ext cx="8595360" cy="8637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500" b="0" dirty="0">
                  <a:solidFill>
                    <a:srgbClr val="212121"/>
                  </a:solidFill>
                  <a:latin typeface="Arial"/>
                </a:rPr>
                <a:t>Do you see legal obstacles in r</a:t>
              </a:r>
              <a:r>
                <a:rPr lang="en-US" sz="1500" dirty="0">
                  <a:solidFill>
                    <a:srgbClr val="212121"/>
                  </a:solidFill>
                  <a:latin typeface="Arial"/>
                </a:rPr>
                <a:t>einstating independent/native EAA issuing as a core wallet functionality? </a:t>
              </a:r>
            </a:p>
          </p:txBody>
        </p:sp>
        <p:sp>
          <p:nvSpPr>
            <p:cNvPr id="115" name="Rounded Rectangle 11">
              <a:extLst>
                <a:ext uri="{FF2B5EF4-FFF2-40B4-BE49-F238E27FC236}">
                  <a16:creationId xmlns:a16="http://schemas.microsoft.com/office/drawing/2014/main" id="{4DB851F4-27F7-46E6-9327-A2301EB7E094}"/>
                </a:ext>
              </a:extLst>
            </p:cNvPr>
            <p:cNvSpPr/>
            <p:nvPr/>
          </p:nvSpPr>
          <p:spPr>
            <a:xfrm>
              <a:off x="822960" y="2423160"/>
              <a:ext cx="502920" cy="347472"/>
            </a:xfrm>
            <a:prstGeom prst="roundRect">
              <a:avLst/>
            </a:prstGeom>
            <a:solidFill>
              <a:srgbClr val="EBF3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2478A2-E740-AD31-E1E8-368B3EFE8697}"/>
                </a:ext>
              </a:extLst>
            </p:cNvPr>
            <p:cNvSpPr txBox="1"/>
            <p:nvPr/>
          </p:nvSpPr>
          <p:spPr>
            <a:xfrm>
              <a:off x="822960" y="2450592"/>
              <a:ext cx="502920" cy="2560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4285F4"/>
                  </a:solidFill>
                  <a:latin typeface="Arial"/>
                </a:rPr>
                <a:t>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33F6B90-A504-15CB-6CF1-66B85DA65B63}"/>
                </a:ext>
              </a:extLst>
            </p:cNvPr>
            <p:cNvSpPr txBox="1"/>
            <p:nvPr/>
          </p:nvSpPr>
          <p:spPr>
            <a:xfrm>
              <a:off x="1508760" y="2441448"/>
              <a:ext cx="1554480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1">
                  <a:solidFill>
                    <a:srgbClr val="0097A7"/>
                  </a:solidFill>
                  <a:latin typeface="Arial"/>
                </a:rPr>
                <a:t>STRATEGY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062EE90A-6D33-4713-D9A4-5275C8539D79}"/>
                </a:ext>
              </a:extLst>
            </p:cNvPr>
            <p:cNvSpPr txBox="1"/>
            <p:nvPr/>
          </p:nvSpPr>
          <p:spPr>
            <a:xfrm>
              <a:off x="2971800" y="2414015"/>
              <a:ext cx="8595360" cy="8637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500" b="0" dirty="0">
                  <a:solidFill>
                    <a:srgbClr val="212121"/>
                  </a:solidFill>
                  <a:latin typeface="Arial"/>
                </a:rPr>
                <a:t>Can identity attestation chaining be reflected in national negotiating briefs?</a:t>
              </a:r>
            </a:p>
          </p:txBody>
        </p:sp>
        <p:sp>
          <p:nvSpPr>
            <p:cNvPr id="131" name="Rounded Rectangle 19">
              <a:extLst>
                <a:ext uri="{FF2B5EF4-FFF2-40B4-BE49-F238E27FC236}">
                  <a16:creationId xmlns:a16="http://schemas.microsoft.com/office/drawing/2014/main" id="{C5FD439C-87EA-1ECE-EB3E-D19BA4CCED47}"/>
                </a:ext>
              </a:extLst>
            </p:cNvPr>
            <p:cNvSpPr/>
            <p:nvPr/>
          </p:nvSpPr>
          <p:spPr>
            <a:xfrm>
              <a:off x="822960" y="3390878"/>
              <a:ext cx="502919" cy="347471"/>
            </a:xfrm>
            <a:prstGeom prst="roundRect">
              <a:avLst/>
            </a:prstGeom>
            <a:solidFill>
              <a:srgbClr val="EBF3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E99B3A82-BF44-9CD6-0764-9370B3524284}"/>
                </a:ext>
              </a:extLst>
            </p:cNvPr>
            <p:cNvSpPr txBox="1"/>
            <p:nvPr/>
          </p:nvSpPr>
          <p:spPr>
            <a:xfrm>
              <a:off x="822960" y="3400023"/>
              <a:ext cx="502919" cy="2560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1200" b="1">
                  <a:solidFill>
                    <a:srgbClr val="4285F4"/>
                  </a:solidFill>
                  <a:latin typeface="Arial"/>
                </a:rPr>
                <a:t>4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A7F95A39-D068-BF7B-1DE5-48B8FBC4F2CF}"/>
                </a:ext>
              </a:extLst>
            </p:cNvPr>
            <p:cNvSpPr txBox="1"/>
            <p:nvPr/>
          </p:nvSpPr>
          <p:spPr>
            <a:xfrm>
              <a:off x="1508760" y="3390878"/>
              <a:ext cx="1554479" cy="27432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0097A7"/>
                  </a:solidFill>
                  <a:latin typeface="Arial"/>
                </a:rPr>
                <a:t>NEXT STEP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C199525D-6D55-5E36-A88C-61107B66616C}"/>
                </a:ext>
              </a:extLst>
            </p:cNvPr>
            <p:cNvSpPr txBox="1"/>
            <p:nvPr/>
          </p:nvSpPr>
          <p:spPr>
            <a:xfrm>
              <a:off x="2971800" y="3363447"/>
              <a:ext cx="8729023" cy="8637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342900" indent="-342900" algn="l">
                <a:buAutoNum type="arabicPeriod"/>
              </a:pPr>
              <a:r>
                <a:rPr sz="1500" b="0" dirty="0">
                  <a:solidFill>
                    <a:srgbClr val="212121"/>
                  </a:solidFill>
                  <a:latin typeface="Arial"/>
                </a:rPr>
                <a:t>How should we coordinate </a:t>
              </a:r>
              <a:r>
                <a:rPr lang="de-DE" sz="1500" dirty="0">
                  <a:solidFill>
                    <a:srgbClr val="212121"/>
                  </a:solidFill>
                  <a:latin typeface="Arial"/>
                </a:rPr>
                <a:t>an </a:t>
              </a:r>
              <a:r>
                <a:rPr sz="1500" b="0" dirty="0">
                  <a:solidFill>
                    <a:srgbClr val="212121"/>
                  </a:solidFill>
                  <a:latin typeface="Arial"/>
                </a:rPr>
                <a:t>online briefing with the European Commission?</a:t>
              </a:r>
            </a:p>
          </p:txBody>
        </p:sp>
        <p:sp>
          <p:nvSpPr>
            <p:cNvPr id="139" name="Rounded Rectangle 23">
              <a:extLst>
                <a:ext uri="{FF2B5EF4-FFF2-40B4-BE49-F238E27FC236}">
                  <a16:creationId xmlns:a16="http://schemas.microsoft.com/office/drawing/2014/main" id="{BAC3AE9D-3BA5-D6B1-9007-A1D46D6035F3}"/>
                </a:ext>
              </a:extLst>
            </p:cNvPr>
            <p:cNvSpPr/>
            <p:nvPr/>
          </p:nvSpPr>
          <p:spPr>
            <a:xfrm>
              <a:off x="822960" y="5623558"/>
              <a:ext cx="10058400" cy="1252729"/>
            </a:xfrm>
            <a:prstGeom prst="roundRect">
              <a:avLst/>
            </a:prstGeom>
            <a:solidFill>
              <a:srgbClr val="FFF6E9"/>
            </a:solidFill>
            <a:ln>
              <a:solidFill>
                <a:srgbClr val="EEEE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B9F44254-793A-0B00-9EE4-3A5EFEEB5323}"/>
                </a:ext>
              </a:extLst>
            </p:cNvPr>
            <p:cNvSpPr txBox="1"/>
            <p:nvPr/>
          </p:nvSpPr>
          <p:spPr>
            <a:xfrm>
              <a:off x="4801856" y="5702911"/>
              <a:ext cx="3296570" cy="4558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300" b="1" dirty="0">
                  <a:solidFill>
                    <a:srgbClr val="212121"/>
                  </a:solidFill>
                  <a:latin typeface="Arial"/>
                </a:rPr>
                <a:t>DESIRED OUTCOME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7E6448F0-2E31-5DCF-876F-9DC40BCC3104}"/>
                </a:ext>
              </a:extLst>
            </p:cNvPr>
            <p:cNvSpPr txBox="1"/>
            <p:nvPr/>
          </p:nvSpPr>
          <p:spPr>
            <a:xfrm>
              <a:off x="987552" y="6144766"/>
              <a:ext cx="9765792" cy="71975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200" b="0" dirty="0">
                  <a:solidFill>
                    <a:srgbClr val="595959"/>
                  </a:solidFill>
                  <a:latin typeface="Arial"/>
                </a:rPr>
                <a:t>A small set of precise amendments that keeps the EBW secure, interoperable and commercially usable at scale.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5969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E Identity 1">
  <a:themeElements>
    <a:clrScheme name="Aangepast 1">
      <a:dk1>
        <a:srgbClr val="FFFFFF"/>
      </a:dk1>
      <a:lt1>
        <a:srgbClr val="003299"/>
      </a:lt1>
      <a:dk2>
        <a:srgbClr val="FFCB01"/>
      </a:dk2>
      <a:lt2>
        <a:srgbClr val="003298"/>
      </a:lt2>
      <a:accent1>
        <a:srgbClr val="FFCB01"/>
      </a:accent1>
      <a:accent2>
        <a:srgbClr val="FE9300"/>
      </a:accent2>
      <a:accent3>
        <a:srgbClr val="F2F2F2"/>
      </a:accent3>
      <a:accent4>
        <a:srgbClr val="FFFFFF"/>
      </a:accent4>
      <a:accent5>
        <a:srgbClr val="000000"/>
      </a:accent5>
      <a:accent6>
        <a:srgbClr val="0070C0"/>
      </a:accent6>
      <a:hlink>
        <a:srgbClr val="FFCB01"/>
      </a:hlink>
      <a:folHlink>
        <a:srgbClr val="FE930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LikedBy xmlns="http://schemas.microsoft.com/sharepoint/v3">
      <UserInfo>
        <DisplayName/>
        <AccountId xsi:nil="true"/>
        <AccountType/>
      </UserInfo>
    </LikedBy>
    <dd2ca49a6b2247ad9a02eccc7bff8420 xmlns="e5472558-49c6-4dcd-a611-46f07d9e181d">
      <Terms xmlns="http://schemas.microsoft.com/office/infopath/2007/PartnerControls"/>
    </dd2ca49a6b2247ad9a02eccc7bff8420>
    <TaxCatchAll xmlns="e5472558-49c6-4dcd-a611-46f07d9e181d"/>
    <_dlc_DocId xmlns="e5472558-49c6-4dcd-a611-46f07d9e181d">P14S009240-510418239-245008</_dlc_DocId>
    <_dlc_DocIdUrl xmlns="e5472558-49c6-4dcd-a611-46f07d9e181d">
      <Url>https://sites.inside-share4.bosch.com/sites/009240/_layouts/15/DocIdRedir.aspx?ID=P14S009240-510418239-245008</Url>
      <Description>P14S009240-510418239-245008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Bosch Document Non-ILM" ma:contentTypeID="0x010100AB5B8D46B293C34591AF36E5A924124C00E4380EFE15B3FB4EB1D86A7EE8490530" ma:contentTypeVersion="6" ma:contentTypeDescription="Create a new document." ma:contentTypeScope="" ma:versionID="f0a439c8515e5241981630c804e19ef8">
  <xsd:schema xmlns:xsd="http://www.w3.org/2001/XMLSchema" xmlns:xs="http://www.w3.org/2001/XMLSchema" xmlns:p="http://schemas.microsoft.com/office/2006/metadata/properties" xmlns:ns1="http://schemas.microsoft.com/sharepoint/v3" xmlns:ns2="e5472558-49c6-4dcd-a611-46f07d9e181d" targetNamespace="http://schemas.microsoft.com/office/2006/metadata/properties" ma:root="true" ma:fieldsID="dbf3203d6ca2cbfa2dc61f0bbcde1169" ns1:_="" ns2:_="">
    <xsd:import namespace="http://schemas.microsoft.com/sharepoint/v3"/>
    <xsd:import namespace="e5472558-49c6-4dcd-a611-46f07d9e181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dd2ca49a6b2247ad9a02eccc7bff8420" minOccurs="0"/>
                <xsd:element ref="ns2:TaxCatchAll" minOccurs="0"/>
                <xsd:element ref="ns2:TaxCatchAllLabel" minOccurs="0"/>
                <xsd:element ref="ns1:LikesCount" minOccurs="0"/>
                <xsd:element ref="ns1:LikedBy" minOccurs="0"/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ikesCount" ma:index="15" nillable="true" ma:displayName="Number of Likes" ma:internalName="LikesCount">
      <xsd:simpleType>
        <xsd:restriction base="dms:Unknown"/>
      </xsd:simpleType>
    </xsd:element>
    <xsd:element name="LikedBy" ma:index="16" nillable="true" ma:displayName="Liked By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472558-49c6-4dcd-a611-46f07d9e181d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dd2ca49a6b2247ad9a02eccc7bff8420" ma:index="11" nillable="true" ma:taxonomy="true" ma:internalName="dd2ca49a6b2247ad9a02eccc7bff8420" ma:taxonomyFieldName="DMSKeywords" ma:displayName="Keywords" ma:fieldId="{dd2ca49a-6b22-47ad-9a02-eccc7bff8420}" ma:sspId="b81b984e-7d9a-4f77-a40b-67f8485df2c3" ma:termSetId="dca3f3b8-9812-4dec-a099-dba9948b64a0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12" nillable="true" ma:displayName="Taxonomy Catch All Column" ma:hidden="true" ma:list="{fddeada8-68bd-448b-b5f5-a932f77b8c36}" ma:internalName="TaxCatchAll" ma:showField="CatchAllData" ma:web="e5472558-49c6-4dcd-a611-46f07d9e18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fddeada8-68bd-448b-b5f5-a932f77b8c36}" ma:internalName="TaxCatchAllLabel" ma:readOnly="true" ma:showField="CatchAllDataLabel" ma:web="e5472558-49c6-4dcd-a611-46f07d9e18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E6878E-E6D2-4AD9-8CBB-882315D8A8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771-D2FF-418D-B835-9C5EACD62CC0}">
  <ds:schemaRefs>
    <ds:schemaRef ds:uri="http://www.w3.org/XML/1998/namespace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e5472558-49c6-4dcd-a611-46f07d9e181d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4C42DCF1-515C-430A-AAC1-8732E585E934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57C5AF3-F53D-46D8-8882-75E8FC4036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5472558-49c6-4dcd-a611-46f07d9e18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1578</Words>
  <Application>Microsoft Office PowerPoint</Application>
  <PresentationFormat>On-screen Show (16:9)</PresentationFormat>
  <Paragraphs>169</Paragraphs>
  <Slides>11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Roboto</vt:lpstr>
      <vt:lpstr>Symbol</vt:lpstr>
      <vt:lpstr>Wingdings</vt:lpstr>
      <vt:lpstr>Simple Light</vt:lpstr>
      <vt:lpstr>WE Identity 1</vt:lpstr>
      <vt:lpstr>think-cell Slide</vt:lpstr>
      <vt:lpstr>PowerPoint Presentation</vt:lpstr>
      <vt:lpstr>Strategic Alignment: Security vs. Usability </vt:lpstr>
      <vt:lpstr>“We Build” Lessons Learned: Native EAA Issuance Is a Non-Negotiable MUST </vt:lpstr>
      <vt:lpstr>Case Study: Practical Limitations of External QTSPs Issuing Bank Attestations</vt:lpstr>
      <vt:lpstr>The Economic Impact: The SME “Pay- per-Credential” Trap </vt:lpstr>
      <vt:lpstr>Self-Assertion Is Not a Trust Service </vt:lpstr>
      <vt:lpstr>Article 6(1)(a): Remove Uncertainty by Making the Provider Role Explicit </vt:lpstr>
      <vt:lpstr>The Principle of Equivalence: EAAs must be legally equivalent to paper  </vt:lpstr>
      <vt:lpstr>Scaling the Trust Ecosystem: Identity Attestation Chaining </vt:lpstr>
      <vt:lpstr>Restoring Legal Support for AI-Driven Agents &amp; Smart Objects </vt:lpstr>
      <vt:lpstr>Discussion &amp; Alignment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Folkendt Werner (BCI/ENA)</dc:creator>
  <dc:description/>
  <cp:lastModifiedBy>Folkendt Werner (BCI/PJ-PSC-Fe2)</cp:lastModifiedBy>
  <cp:revision>100</cp:revision>
  <dcterms:modified xsi:type="dcterms:W3CDTF">2026-09-18T15:56:36Z</dcterms:modified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0x010100AB5B8D46B293C34591AF36E5A924124C00E4380EFE15B3FB4EB1D86A7EE8490530</vt:lpwstr>
  </property>
  <property fmtid="{D5CDD505-2E9C-101B-9397-08002B2CF9AE}" pid="3" name="DMSKeywords">
    <vt:lpwstr/>
  </property>
  <property fmtid="{D5CDD505-2E9C-101B-9397-08002B2CF9AE}" pid="4" name="_dlc_DocIdItemGuid">
    <vt:lpwstr>e679b085-e0d4-4066-ba26-c90b354c59b6</vt:lpwstr>
  </property>
</Properties>
</file>